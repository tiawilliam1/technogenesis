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9" r:id="rId4"/>
    <p:sldId id="271" r:id="rId5"/>
    <p:sldId id="273" r:id="rId6"/>
    <p:sldId id="277" r:id="rId7"/>
    <p:sldId id="260" r:id="rId8"/>
    <p:sldId id="279" r:id="rId9"/>
    <p:sldId id="291" r:id="rId10"/>
    <p:sldId id="281" r:id="rId11"/>
    <p:sldId id="295" r:id="rId12"/>
    <p:sldId id="297" r:id="rId13"/>
    <p:sldId id="298" r:id="rId14"/>
    <p:sldId id="301" r:id="rId15"/>
    <p:sldId id="306" r:id="rId16"/>
  </p:sldIdLst>
  <p:sldSz cx="12192000" cy="6858000"/>
  <p:notesSz cx="6858000" cy="9525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99"/>
    <a:srgbClr val="FF66FF"/>
    <a:srgbClr val="ACEAF0"/>
    <a:srgbClr val="161B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24" autoAdjust="0"/>
    <p:restoredTop sz="92523" autoAdjust="0"/>
  </p:normalViewPr>
  <p:slideViewPr>
    <p:cSldViewPr snapToGrid="0">
      <p:cViewPr>
        <p:scale>
          <a:sx n="90" d="100"/>
          <a:sy n="90" d="100"/>
        </p:scale>
        <p:origin x="-234" y="6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77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77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7DE3B0-42B2-4909-81F2-89D308833513}" type="datetimeFigureOut">
              <a:rPr lang="en-GB" smtClean="0"/>
              <a:t>27/07/2026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190625"/>
            <a:ext cx="5715000" cy="32146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584700"/>
            <a:ext cx="5486400" cy="37496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047163"/>
            <a:ext cx="2971800" cy="4778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047163"/>
            <a:ext cx="2971800" cy="4778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0583B9-57F0-4E41-B203-C2378FDB16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7645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0583B9-57F0-4E41-B203-C2378FDB1601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2005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0583B9-57F0-4E41-B203-C2378FDB1601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3844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3B769-403B-E7DA-3896-10587F1ED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 hidden="1">
            <a:extLst>
              <a:ext uri="{FF2B5EF4-FFF2-40B4-BE49-F238E27FC236}">
                <a16:creationId xmlns:a16="http://schemas.microsoft.com/office/drawing/2014/main" id="{AE9D8D3D-0A2F-6300-C484-26383CDA4B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F50B3-7FCB-DBC1-1362-F76A595BFC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2BF1C4-5C87-4753-9DBC-8C57A15BFC99}" type="datetimeFigureOut">
              <a:rPr lang="en-GB" smtClean="0"/>
              <a:t>27/07/2026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4B7F6-6C71-308A-DCE9-01AB4643B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D7709-02FC-7779-3876-9CCAE2D49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60CD694-2835-49C4-A403-E89F70C3B6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403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EE499-1433-D2D2-F053-AB04AA2ED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BEF6A-1C7B-88B1-D877-C50E35CF4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F180AE-56DB-D2D6-2DA4-075B412C07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2BF1C4-5C87-4753-9DBC-8C57A15BFC99}" type="datetimeFigureOut">
              <a:rPr lang="en-GB" smtClean="0"/>
              <a:t>27/07/2026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9A955-1700-1A52-6A20-CB24B4A09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36D4F-795B-9442-6EA9-D2E4B942B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60CD694-2835-49C4-A403-E89F70C3B6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068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7DD36-C74D-B478-63A6-6CEBE744E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ECC272-0944-E41E-0512-95CE18380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C5C72-6D00-4FE7-A037-D46A0FE079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2BF1C4-5C87-4753-9DBC-8C57A15BFC99}" type="datetimeFigureOut">
              <a:rPr lang="en-GB" smtClean="0"/>
              <a:t>27/07/2026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38376-15B6-D450-DD7C-3198F553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8BD98-5381-0C8E-D4DB-003E7D1C4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60CD694-2835-49C4-A403-E89F70C3B6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3835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4D542-18AB-2A95-E42A-C56B22C86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75E26-40C1-5FAE-00BD-1A096B42C5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40BC41-0C01-CA90-9728-935980A6A0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21DF44-5990-16BB-5158-32C80D941E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2BF1C4-5C87-4753-9DBC-8C57A15BFC99}" type="datetimeFigureOut">
              <a:rPr lang="en-GB" smtClean="0"/>
              <a:t>27/07/2026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0FA6CF-4FB0-46EE-DDF0-A09C83959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314588-AF33-AAA2-D2EF-0B19F5979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60CD694-2835-49C4-A403-E89F70C3B6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2704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23F3C-FC70-668B-F09E-6BB7F590B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8F5B19-3D36-A46D-DFB5-C24229D3A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CC21FA-B152-D73E-773C-AB53C5CA8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D01FC4-DBFA-C0E2-761C-6D86B71F9E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878AF4-81C1-5BCC-3188-93EF8F4DB4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9106DD-1568-F4B1-F6DE-D2BDCD29B2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2BF1C4-5C87-4753-9DBC-8C57A15BFC99}" type="datetimeFigureOut">
              <a:rPr lang="en-GB" smtClean="0"/>
              <a:t>27/07/2026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58E141-CDBE-5746-2161-8FE31ACA5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1B0FBE-BAE2-B62A-B480-8E2EBF52D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60CD694-2835-49C4-A403-E89F70C3B6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6028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FE3B5-4030-6999-AABD-1D19F7DF5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031981-7C86-402E-9E31-54072C05E3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2BF1C4-5C87-4753-9DBC-8C57A15BFC99}" type="datetimeFigureOut">
              <a:rPr lang="en-GB" smtClean="0"/>
              <a:t>27/07/2026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AFEDA3-8C60-C282-4AAB-C6D019541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7D83F-43E5-3437-F4C2-81BB8D50F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60CD694-2835-49C4-A403-E89F70C3B6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077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17EB0D-349E-A066-DF4E-B998D43973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2BF1C4-5C87-4753-9DBC-8C57A15BFC99}" type="datetimeFigureOut">
              <a:rPr lang="en-GB" smtClean="0"/>
              <a:t>27/07/2026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96456D-5E84-71F1-AFCF-60F37C1E2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A0E7D9-D0D2-EFD0-15DA-3D2E18059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60CD694-2835-49C4-A403-E89F70C3B6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5420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55222-AFE6-5C8D-BAD6-CEC46BF7C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C8F1A-FCB4-F84A-6C1C-C38613CA3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E674E8-66F6-0637-F726-BA9ADA2D4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5FD544-1D60-3921-46F4-CAA431F6ED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2BF1C4-5C87-4753-9DBC-8C57A15BFC99}" type="datetimeFigureOut">
              <a:rPr lang="en-GB" smtClean="0"/>
              <a:t>27/07/2026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F99802-FCB8-2F9A-4A45-219D9CE39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77C76-4175-8556-4D87-2A96613C2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60CD694-2835-49C4-A403-E89F70C3B6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5569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BAED6-1554-3C4F-8611-0F4592562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24496E-9797-855C-DA9E-0215F90968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50FA20-91FC-6A20-FFF8-67768AA1A5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EABC65-D4EC-7D58-DB6B-50638774D6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2BF1C4-5C87-4753-9DBC-8C57A15BFC99}" type="datetimeFigureOut">
              <a:rPr lang="en-GB" smtClean="0"/>
              <a:t>27/07/2026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B9ED48-AA07-DD96-5A7E-F34068B14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2E842-2126-064A-49DB-2D5FFE9BF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60CD694-2835-49C4-A403-E89F70C3B6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7889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A6B70-E78F-7362-F981-BA267735B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A4EB92-E873-E646-B7B6-43712180EA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055EC-F749-E7A0-E159-CCDB000133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2BF1C4-5C87-4753-9DBC-8C57A15BFC99}" type="datetimeFigureOut">
              <a:rPr lang="en-GB" smtClean="0"/>
              <a:t>27/07/2026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997DA-013C-127D-7031-B9F804CE3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89AF1-BC2A-5839-DD27-F8D403F2C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60CD694-2835-49C4-A403-E89F70C3B6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3133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6E66E1-4E72-ADDC-4696-0BA7D36FCE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D53B7C-052E-7C15-469D-3A2B8957B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D76C6-3CB3-07D4-9629-F20BD3E44E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2BF1C4-5C87-4753-9DBC-8C57A15BFC99}" type="datetimeFigureOut">
              <a:rPr lang="en-GB" smtClean="0"/>
              <a:t>27/07/2026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ACC99-5541-C735-BE52-60D3D13A5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979D9-6E53-2711-3FA2-384FF694B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60CD694-2835-49C4-A403-E89F70C3B6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4644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94E20-A472-8BDD-81AD-5F44A3681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8542F9-954C-16BA-B847-119A41C84B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2BF1C4-5C87-4753-9DBC-8C57A15BFC99}" type="datetimeFigureOut">
              <a:rPr lang="en-GB" smtClean="0"/>
              <a:t>27/07/2026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BD0548-9212-7B45-DDA3-66A1334C7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79984B-F390-C08E-5D5A-D21483AF6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60CD694-2835-49C4-A403-E89F70C3B6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0056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53B6B-F93F-2DA2-9149-4AEA8414F9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3316" y="64928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/>
              <a:t>© 2026 </a:t>
            </a:r>
            <a:r>
              <a:rPr lang="en-US" dirty="0" err="1"/>
              <a:t>TechnoGenesis</a:t>
            </a:r>
            <a:r>
              <a:rPr lang="en-US" dirty="0"/>
              <a:t>. All rights reserved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0518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D7CBE5-4636-CAA1-36A2-21AFFDD0F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38" y="0"/>
            <a:ext cx="12197275" cy="6858000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449A52C-5115-E9BF-DF97-B424E2B38B79}"/>
              </a:ext>
            </a:extLst>
          </p:cNvPr>
          <p:cNvSpPr txBox="1">
            <a:spLocks/>
          </p:cNvSpPr>
          <p:nvPr/>
        </p:nvSpPr>
        <p:spPr>
          <a:xfrm>
            <a:off x="4038599" y="656086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© 2026 </a:t>
            </a:r>
            <a:r>
              <a:rPr lang="en-US" dirty="0" err="1">
                <a:solidFill>
                  <a:schemeClr val="tx1"/>
                </a:solidFill>
              </a:rPr>
              <a:t>TechnoGenesis</a:t>
            </a:r>
            <a:r>
              <a:rPr lang="en-US" dirty="0">
                <a:solidFill>
                  <a:schemeClr val="tx1"/>
                </a:solidFill>
              </a:rPr>
              <a:t>. All rights reserved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AD29CE-FF86-89E9-E40B-B1072C476BE9}"/>
              </a:ext>
            </a:extLst>
          </p:cNvPr>
          <p:cNvSpPr/>
          <p:nvPr/>
        </p:nvSpPr>
        <p:spPr>
          <a:xfrm>
            <a:off x="11667744" y="6651989"/>
            <a:ext cx="292608" cy="1828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3544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4C021B-E11F-3AC8-61AD-9EC71C8BE5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604" y="9525"/>
            <a:ext cx="12259604" cy="6897226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121D07C-F1D4-D008-180B-481137E425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85924" y="887508"/>
            <a:ext cx="12209589" cy="47820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6C010DF-5AB2-7A93-5E3D-667BFEFA78F7}"/>
              </a:ext>
            </a:extLst>
          </p:cNvPr>
          <p:cNvSpPr/>
          <p:nvPr/>
        </p:nvSpPr>
        <p:spPr>
          <a:xfrm>
            <a:off x="129110" y="224134"/>
            <a:ext cx="1932771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Reading Patents -1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E2015A-2C87-685C-A449-ED6D7C7E9609}"/>
              </a:ext>
            </a:extLst>
          </p:cNvPr>
          <p:cNvSpPr/>
          <p:nvPr/>
        </p:nvSpPr>
        <p:spPr>
          <a:xfrm>
            <a:off x="6096000" y="4896748"/>
            <a:ext cx="4354498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endParaRPr lang="en-US" sz="1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091493-74F6-7B9C-A7E5-1E270E7379F4}"/>
              </a:ext>
            </a:extLst>
          </p:cNvPr>
          <p:cNvSpPr/>
          <p:nvPr/>
        </p:nvSpPr>
        <p:spPr>
          <a:xfrm>
            <a:off x="129110" y="5063319"/>
            <a:ext cx="7445397" cy="4352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3B9BC6A-B211-2E2A-0011-DC779DA32550}"/>
              </a:ext>
            </a:extLst>
          </p:cNvPr>
          <p:cNvSpPr/>
          <p:nvPr/>
        </p:nvSpPr>
        <p:spPr>
          <a:xfrm>
            <a:off x="72758" y="5117910"/>
            <a:ext cx="11978879" cy="68277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Priority year ≈ when the invention was made ·Publication/grant lag 1.5–4+ years · Time runs from the filing date, not grant.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92A5B12-25DA-C951-0C93-AE9BED903680}"/>
              </a:ext>
            </a:extLst>
          </p:cNvPr>
          <p:cNvGrpSpPr/>
          <p:nvPr/>
        </p:nvGrpSpPr>
        <p:grpSpPr>
          <a:xfrm>
            <a:off x="-3592286" y="-3069771"/>
            <a:ext cx="20795726" cy="11899798"/>
            <a:chOff x="-1238250" y="70813"/>
            <a:chExt cx="14668500" cy="6582648"/>
          </a:xfrm>
          <a:scene3d>
            <a:camera prst="orthographicFront">
              <a:rot lat="0" lon="0" rev="1800000"/>
            </a:camera>
            <a:lightRig rig="threePt" dir="t"/>
          </a:scene3d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1D20D44-D0EE-745C-7DD5-433EF60139FF}"/>
                </a:ext>
              </a:extLst>
            </p:cNvPr>
            <p:cNvGrpSpPr/>
            <p:nvPr userDrawn="1"/>
          </p:nvGrpSpPr>
          <p:grpSpPr>
            <a:xfrm>
              <a:off x="-1238250" y="2825520"/>
              <a:ext cx="14668500" cy="410394"/>
              <a:chOff x="-685800" y="2956303"/>
              <a:chExt cx="14668500" cy="410394"/>
            </a:xfrm>
          </p:grpSpPr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8644348-4E0D-96DB-8A8B-4E262A7331CE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1B4D456-446A-ABCE-45A0-BA9FD89A6F7A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91E5762-E494-BAD5-14E2-D24502A8D3EA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44FD7E6-F9B6-1D63-F806-5A35466BEECA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1BD3B8E-308C-9A6C-B315-D84EF5A21BBE}"/>
                </a:ext>
              </a:extLst>
            </p:cNvPr>
            <p:cNvGrpSpPr/>
            <p:nvPr userDrawn="1"/>
          </p:nvGrpSpPr>
          <p:grpSpPr>
            <a:xfrm>
              <a:off x="-1238250" y="3710392"/>
              <a:ext cx="14668500" cy="410394"/>
              <a:chOff x="-685800" y="2956303"/>
              <a:chExt cx="14668500" cy="410394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F8918E8-19D5-10CD-05C3-8EC31C534370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02CD193-6D49-A63F-9833-C88C17CDB4A2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E9917EC-95DB-00C6-3B51-F8FF56C6BF5D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EF4181C-409E-D198-EA63-BA7297795A21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849257E-8655-B4B0-600D-335ECFFABABC}"/>
                </a:ext>
              </a:extLst>
            </p:cNvPr>
            <p:cNvGrpSpPr/>
            <p:nvPr userDrawn="1"/>
          </p:nvGrpSpPr>
          <p:grpSpPr>
            <a:xfrm>
              <a:off x="-1238250" y="4583102"/>
              <a:ext cx="14668500" cy="410394"/>
              <a:chOff x="-685800" y="2956303"/>
              <a:chExt cx="14668500" cy="410394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D858708-EC20-702D-E138-1E29220796C9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8265E86-8445-B28A-B2C8-4897DF54211C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482FFEC-D2CB-A4E9-279D-EF6C01512F59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396DD1F-A63C-171C-9444-129CF1FC4D37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43B3DE8-7BA7-2288-F16B-2784C1200D2E}"/>
                </a:ext>
              </a:extLst>
            </p:cNvPr>
            <p:cNvGrpSpPr/>
            <p:nvPr userDrawn="1"/>
          </p:nvGrpSpPr>
          <p:grpSpPr>
            <a:xfrm>
              <a:off x="-1238250" y="5467974"/>
              <a:ext cx="14668500" cy="410394"/>
              <a:chOff x="-685800" y="2956303"/>
              <a:chExt cx="14668500" cy="410394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F061CE1-B4BB-D16A-547D-F6EB9BF1AC64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985C130-8908-19B9-5B3A-8754F1C31F77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2A9DF5A-FE92-3D39-24D7-6557D6E40578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9120343-5FCC-087D-ACDE-1B13FB2F0E6C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32F6451-3944-9B77-C1D4-4E45A94FAE6E}"/>
                </a:ext>
              </a:extLst>
            </p:cNvPr>
            <p:cNvGrpSpPr/>
            <p:nvPr userDrawn="1"/>
          </p:nvGrpSpPr>
          <p:grpSpPr>
            <a:xfrm>
              <a:off x="-1238250" y="1859650"/>
              <a:ext cx="14668500" cy="410394"/>
              <a:chOff x="-685800" y="2956303"/>
              <a:chExt cx="14668500" cy="410394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FA4C266-E13E-120B-BBB6-5FF187F92CFE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95678F8-4DF4-0BF6-B492-969D0CCA93D7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47DEC8E-441C-7E39-FC6F-7A7CEBB6FE34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79BB4B8-D2B7-BA96-0E46-10A943AB7B89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E54F0D4-7B23-1622-DA66-D9C34360BBDE}"/>
                </a:ext>
              </a:extLst>
            </p:cNvPr>
            <p:cNvGrpSpPr/>
            <p:nvPr userDrawn="1"/>
          </p:nvGrpSpPr>
          <p:grpSpPr>
            <a:xfrm>
              <a:off x="-1238250" y="70813"/>
              <a:ext cx="14668500" cy="410394"/>
              <a:chOff x="-685800" y="2956303"/>
              <a:chExt cx="14668500" cy="410394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31B73C6-6C74-5460-0803-454490CDC57D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30DD23B-E4CA-3D2E-7886-B9335E3D4E0C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D20591C-F804-E6A9-2AAE-AC25F6D2F315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124C7E5-A510-7D92-2E95-29F48317EF9D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3DF1103-C090-2DF1-ED5C-FA259A62D108}"/>
                </a:ext>
              </a:extLst>
            </p:cNvPr>
            <p:cNvGrpSpPr/>
            <p:nvPr userDrawn="1"/>
          </p:nvGrpSpPr>
          <p:grpSpPr>
            <a:xfrm>
              <a:off x="-1238250" y="949927"/>
              <a:ext cx="14668500" cy="410394"/>
              <a:chOff x="-685800" y="2956303"/>
              <a:chExt cx="14668500" cy="410394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1ACFF7C-D8E9-581C-9069-D9820F99A3D3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C9445E8-6DE4-7A69-874E-80396C16B9A0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04D813A-61D6-A6AE-7B64-0FE9246CA7F6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B7A443C-83E3-79BB-8A37-D0C044A9ABA8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8EB27C9-8F6E-445C-6032-BCE23E94393E}"/>
                </a:ext>
              </a:extLst>
            </p:cNvPr>
            <p:cNvGrpSpPr/>
            <p:nvPr userDrawn="1"/>
          </p:nvGrpSpPr>
          <p:grpSpPr>
            <a:xfrm>
              <a:off x="-1238250" y="6243067"/>
              <a:ext cx="14668500" cy="410394"/>
              <a:chOff x="-685800" y="2956303"/>
              <a:chExt cx="14668500" cy="410394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4DD4DA7-4798-3001-F6B9-48B543EFE335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9156486-90F4-D4AD-9FCA-795F7CF45BAF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057D98F-5C74-918B-F2AF-B0225320809A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700D5D7-7093-A208-A530-C9200D6F1FB4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8386C15-106C-5553-E82A-254902B2A439}"/>
              </a:ext>
            </a:extLst>
          </p:cNvPr>
          <p:cNvGrpSpPr/>
          <p:nvPr/>
        </p:nvGrpSpPr>
        <p:grpSpPr>
          <a:xfrm>
            <a:off x="-614360" y="6441921"/>
            <a:ext cx="4114800" cy="422069"/>
            <a:chOff x="2436266" y="6394843"/>
            <a:chExt cx="4114800" cy="422069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C6FBFBE6-4ADB-0898-36BC-DA7B077E475A}"/>
                </a:ext>
              </a:extLst>
            </p:cNvPr>
            <p:cNvSpPr/>
            <p:nvPr/>
          </p:nvSpPr>
          <p:spPr>
            <a:xfrm>
              <a:off x="3440863" y="6451787"/>
              <a:ext cx="1894114" cy="365125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Footer Placeholder 4">
              <a:extLst>
                <a:ext uri="{FF2B5EF4-FFF2-40B4-BE49-F238E27FC236}">
                  <a16:creationId xmlns:a16="http://schemas.microsoft.com/office/drawing/2014/main" id="{FF8140D7-8E3E-53E9-ABED-E3AF20EB74E6}"/>
                </a:ext>
              </a:extLst>
            </p:cNvPr>
            <p:cNvSpPr txBox="1">
              <a:spLocks/>
            </p:cNvSpPr>
            <p:nvPr/>
          </p:nvSpPr>
          <p:spPr>
            <a:xfrm>
              <a:off x="2436266" y="6394843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© 2026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</a:rPr>
                <a:t>TechnoGenesis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. All rights reserved</a:t>
              </a:r>
              <a:endParaRPr lang="en-GB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721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E5668-2211-5C86-C21F-BCFCD4B9A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600386-1B1E-00CC-8049-FE91AA9CE8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4762"/>
            <a:ext cx="12172950" cy="68484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081F892-DE30-CB02-9F44-A1907E0BA12F}"/>
              </a:ext>
            </a:extLst>
          </p:cNvPr>
          <p:cNvSpPr/>
          <p:nvPr/>
        </p:nvSpPr>
        <p:spPr>
          <a:xfrm>
            <a:off x="129110" y="224134"/>
            <a:ext cx="1932771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Reading Patents -2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ADA37C-F8AE-1D01-B46A-6841F1026BF1}"/>
              </a:ext>
            </a:extLst>
          </p:cNvPr>
          <p:cNvSpPr/>
          <p:nvPr/>
        </p:nvSpPr>
        <p:spPr>
          <a:xfrm>
            <a:off x="3541784" y="240737"/>
            <a:ext cx="407047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b="1" cap="none" spc="0" dirty="0">
                <a:ln/>
                <a:solidFill>
                  <a:schemeClr val="accent1">
                    <a:lumMod val="75000"/>
                  </a:schemeClr>
                </a:solidFill>
                <a:effectLst/>
              </a:rPr>
              <a:t>Patent protection &amp; earliest priority year</a:t>
            </a:r>
            <a:endParaRPr lang="en-US" b="1" cap="none" spc="0" dirty="0">
              <a:ln/>
              <a:solidFill>
                <a:schemeClr val="accent3"/>
              </a:solidFill>
              <a:effectLst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E012B4B-BF07-5CBC-CE84-464EB95BC972}"/>
              </a:ext>
            </a:extLst>
          </p:cNvPr>
          <p:cNvGrpSpPr/>
          <p:nvPr/>
        </p:nvGrpSpPr>
        <p:grpSpPr>
          <a:xfrm>
            <a:off x="-548359" y="1029455"/>
            <a:ext cx="6747542" cy="2299648"/>
            <a:chOff x="3541588" y="1635345"/>
            <a:chExt cx="6747542" cy="1574272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6453ADCD-A378-909A-D5D8-CE4B6BA376C5}"/>
                </a:ext>
              </a:extLst>
            </p:cNvPr>
            <p:cNvSpPr/>
            <p:nvPr/>
          </p:nvSpPr>
          <p:spPr>
            <a:xfrm>
              <a:off x="4304204" y="1635345"/>
              <a:ext cx="5827058" cy="1574272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89C69E2-E2EB-802F-9C44-0DBD7565C374}"/>
                </a:ext>
              </a:extLst>
            </p:cNvPr>
            <p:cNvGrpSpPr/>
            <p:nvPr/>
          </p:nvGrpSpPr>
          <p:grpSpPr>
            <a:xfrm>
              <a:off x="3541588" y="1752089"/>
              <a:ext cx="6747542" cy="1386839"/>
              <a:chOff x="-431722" y="4715907"/>
              <a:chExt cx="7106843" cy="1386839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D7EBED1B-EBCA-F23A-7432-490BDFA2A1BF}"/>
                  </a:ext>
                </a:extLst>
              </p:cNvPr>
              <p:cNvSpPr/>
              <p:nvPr/>
            </p:nvSpPr>
            <p:spPr>
              <a:xfrm>
                <a:off x="-431722" y="4715907"/>
                <a:ext cx="4354498" cy="30777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US" sz="1400" b="0" cap="none" spc="0" dirty="0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THREE ROUTEs TO PROTECTION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91C741A-59BA-445E-6A6A-49D7524A702C}"/>
                  </a:ext>
                </a:extLst>
              </p:cNvPr>
              <p:cNvSpPr txBox="1"/>
              <p:nvPr/>
            </p:nvSpPr>
            <p:spPr>
              <a:xfrm>
                <a:off x="608054" y="4987854"/>
                <a:ext cx="512715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400" dirty="0"/>
                  <a:t>• </a:t>
                </a:r>
                <a:r>
                  <a:rPr lang="fr-FR" sz="1400" b="1" dirty="0"/>
                  <a:t>National </a:t>
                </a:r>
                <a:r>
                  <a:rPr lang="fr-FR" sz="1400" dirty="0"/>
                  <a:t>– file office by office (US-USPTO, CN-CNIPA, KR-KIPO).</a:t>
                </a:r>
                <a:endParaRPr lang="en-GB" sz="1400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D524F0E-D9A2-291F-1592-26785C1AB675}"/>
                  </a:ext>
                </a:extLst>
              </p:cNvPr>
              <p:cNvSpPr txBox="1"/>
              <p:nvPr/>
            </p:nvSpPr>
            <p:spPr>
              <a:xfrm>
                <a:off x="608054" y="5289301"/>
                <a:ext cx="603096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400" dirty="0"/>
                  <a:t>• </a:t>
                </a:r>
                <a:r>
                  <a:rPr lang="fr-FR" sz="1400" b="1" dirty="0" err="1"/>
                  <a:t>Regional</a:t>
                </a:r>
                <a:r>
                  <a:rPr lang="fr-FR" sz="1400" b="1" dirty="0"/>
                  <a:t> </a:t>
                </a:r>
                <a:r>
                  <a:rPr lang="fr-FR" sz="1400" dirty="0"/>
                  <a:t>–EPO (EP) ~ </a:t>
                </a:r>
                <a:r>
                  <a:rPr lang="fr-FR" sz="1400" dirty="0" err="1"/>
                  <a:t>covers</a:t>
                </a:r>
                <a:r>
                  <a:rPr lang="fr-FR" sz="1400" dirty="0"/>
                  <a:t> 39 states, (UP) ~ </a:t>
                </a:r>
                <a:r>
                  <a:rPr lang="fr-FR" sz="1400" dirty="0" err="1"/>
                  <a:t>covers</a:t>
                </a:r>
                <a:r>
                  <a:rPr lang="fr-FR" sz="1400" dirty="0"/>
                  <a:t> 18 states </a:t>
                </a:r>
                <a:r>
                  <a:rPr lang="fr-FR" sz="1400" dirty="0" err="1"/>
                  <a:t>since</a:t>
                </a:r>
                <a:r>
                  <a:rPr lang="fr-FR" sz="1400" dirty="0"/>
                  <a:t> 2024 . </a:t>
                </a:r>
                <a:endParaRPr lang="en-GB" sz="1400" dirty="0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9B13A21-CCD8-F9D3-47DE-F32431E2AE1E}"/>
                  </a:ext>
                </a:extLst>
              </p:cNvPr>
              <p:cNvSpPr txBox="1"/>
              <p:nvPr/>
            </p:nvSpPr>
            <p:spPr>
              <a:xfrm>
                <a:off x="608055" y="5597078"/>
                <a:ext cx="6067066" cy="5056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400" dirty="0"/>
                  <a:t>• </a:t>
                </a:r>
                <a:r>
                  <a:rPr lang="fr-FR" sz="1400" b="1" dirty="0"/>
                  <a:t>International </a:t>
                </a:r>
                <a:r>
                  <a:rPr lang="fr-FR" sz="1400" dirty="0"/>
                  <a:t>– PCT (WO); one </a:t>
                </a:r>
                <a:r>
                  <a:rPr lang="fr-FR" sz="1400" dirty="0" err="1"/>
                  <a:t>filing</a:t>
                </a:r>
                <a:r>
                  <a:rPr lang="fr-FR" sz="1400" dirty="0"/>
                  <a:t> </a:t>
                </a:r>
                <a:r>
                  <a:rPr lang="fr-FR" sz="1400" dirty="0" err="1"/>
                  <a:t>reserves</a:t>
                </a:r>
                <a:r>
                  <a:rPr lang="fr-FR" sz="1400" dirty="0"/>
                  <a:t> entry to ~ 150 countries for 30/31 </a:t>
                </a:r>
                <a:r>
                  <a:rPr lang="fr-FR" sz="1400" dirty="0" err="1"/>
                  <a:t>months</a:t>
                </a:r>
                <a:r>
                  <a:rPr lang="fr-FR" sz="1400" dirty="0"/>
                  <a:t> </a:t>
                </a:r>
                <a:r>
                  <a:rPr lang="fr-FR" sz="1400" dirty="0" err="1"/>
                  <a:t>before</a:t>
                </a:r>
                <a:r>
                  <a:rPr lang="fr-FR" sz="1400" dirty="0"/>
                  <a:t> national entry</a:t>
                </a:r>
                <a:r>
                  <a:rPr lang="fr-FR" sz="1400" u="sng" dirty="0"/>
                  <a:t>-</a:t>
                </a:r>
                <a:r>
                  <a:rPr lang="fr-FR" sz="1400" dirty="0"/>
                  <a:t>&gt; </a:t>
                </a:r>
                <a:r>
                  <a:rPr lang="fr-FR" sz="1400" dirty="0">
                    <a:solidFill>
                      <a:srgbClr val="FF0000"/>
                    </a:solidFill>
                  </a:rPr>
                  <a:t>Is a route – no protection </a:t>
                </a:r>
                <a:r>
                  <a:rPr lang="fr-FR" sz="1400" dirty="0" err="1">
                    <a:solidFill>
                      <a:srgbClr val="FF0000"/>
                    </a:solidFill>
                  </a:rPr>
                  <a:t>until</a:t>
                </a:r>
                <a:r>
                  <a:rPr lang="fr-FR" sz="1400" dirty="0">
                    <a:solidFill>
                      <a:srgbClr val="FF0000"/>
                    </a:solidFill>
                  </a:rPr>
                  <a:t> national entry and </a:t>
                </a:r>
                <a:r>
                  <a:rPr lang="fr-FR" sz="1400" dirty="0" err="1">
                    <a:solidFill>
                      <a:srgbClr val="FF0000"/>
                    </a:solidFill>
                  </a:rPr>
                  <a:t>grant</a:t>
                </a:r>
                <a:r>
                  <a:rPr lang="fr-FR" sz="1400" dirty="0">
                    <a:solidFill>
                      <a:srgbClr val="FF0000"/>
                    </a:solidFill>
                  </a:rPr>
                  <a:t>!</a:t>
                </a:r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9417DBA-F0F6-5D89-42A3-FF8A3EB5B81C}"/>
              </a:ext>
            </a:extLst>
          </p:cNvPr>
          <p:cNvGrpSpPr/>
          <p:nvPr/>
        </p:nvGrpSpPr>
        <p:grpSpPr>
          <a:xfrm>
            <a:off x="6156258" y="2401544"/>
            <a:ext cx="5827058" cy="1828568"/>
            <a:chOff x="4005602" y="4211318"/>
            <a:chExt cx="5939052" cy="1828568"/>
          </a:xfrm>
        </p:grpSpPr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52D184C5-6876-EC3B-1FF7-E5E05FE62EC4}"/>
                </a:ext>
              </a:extLst>
            </p:cNvPr>
            <p:cNvSpPr/>
            <p:nvPr/>
          </p:nvSpPr>
          <p:spPr>
            <a:xfrm>
              <a:off x="4117596" y="4465614"/>
              <a:ext cx="5827058" cy="1574272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9A8FCF6C-9276-9B2F-EFFC-EB229ABCB51D}"/>
                </a:ext>
              </a:extLst>
            </p:cNvPr>
            <p:cNvGrpSpPr/>
            <p:nvPr/>
          </p:nvGrpSpPr>
          <p:grpSpPr>
            <a:xfrm>
              <a:off x="4005602" y="4211318"/>
              <a:ext cx="5738475" cy="1701830"/>
              <a:chOff x="40381" y="4326135"/>
              <a:chExt cx="6044045" cy="1701830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13C870D3-CB5D-9B52-1021-E0498F3D6832}"/>
                  </a:ext>
                </a:extLst>
              </p:cNvPr>
              <p:cNvSpPr/>
              <p:nvPr/>
            </p:nvSpPr>
            <p:spPr>
              <a:xfrm>
                <a:off x="3007063" y="4326135"/>
                <a:ext cx="194567" cy="338554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 algn="ctr"/>
                <a:endParaRPr lang="en-US" sz="1600" b="1" cap="none" spc="0" dirty="0">
                  <a:ln/>
                  <a:solidFill>
                    <a:srgbClr val="FFC000"/>
                  </a:solidFill>
                  <a:effectLst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0366B831-66DE-01AC-0C1F-2556C530ECB6}"/>
                  </a:ext>
                </a:extLst>
              </p:cNvPr>
              <p:cNvSpPr/>
              <p:nvPr/>
            </p:nvSpPr>
            <p:spPr>
              <a:xfrm>
                <a:off x="40381" y="4679818"/>
                <a:ext cx="4354498" cy="30777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US" sz="1400" dirty="0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PRIORITY YEAR = THE INVENTION MOMENT</a:t>
                </a:r>
                <a:endParaRPr lang="en-US" sz="14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D514C78-0E80-E57F-59CE-7BC7605C6FAB}"/>
                  </a:ext>
                </a:extLst>
              </p:cNvPr>
              <p:cNvSpPr txBox="1"/>
              <p:nvPr/>
            </p:nvSpPr>
            <p:spPr>
              <a:xfrm>
                <a:off x="608054" y="4987854"/>
                <a:ext cx="446463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400" dirty="0"/>
                  <a:t>• </a:t>
                </a:r>
                <a:r>
                  <a:rPr lang="fr-FR" sz="1400" b="1" dirty="0" err="1"/>
                  <a:t>Earliest</a:t>
                </a:r>
                <a:r>
                  <a:rPr lang="fr-FR" sz="1400" b="1" dirty="0"/>
                  <a:t> </a:t>
                </a:r>
                <a:r>
                  <a:rPr lang="fr-FR" sz="1400" b="1" dirty="0" err="1"/>
                  <a:t>priority</a:t>
                </a:r>
                <a:r>
                  <a:rPr lang="fr-FR" sz="1400" b="1" dirty="0"/>
                  <a:t> </a:t>
                </a:r>
                <a:r>
                  <a:rPr lang="fr-FR" sz="1400" b="1" dirty="0" err="1"/>
                  <a:t>year</a:t>
                </a:r>
                <a:r>
                  <a:rPr lang="fr-FR" sz="1400" b="1" dirty="0"/>
                  <a:t> = </a:t>
                </a:r>
                <a:r>
                  <a:rPr lang="fr-FR" sz="1400" b="1" dirty="0" err="1"/>
                  <a:t>when</a:t>
                </a:r>
                <a:r>
                  <a:rPr lang="fr-FR" sz="1400" b="1" dirty="0"/>
                  <a:t> the invention </a:t>
                </a:r>
                <a:r>
                  <a:rPr lang="fr-FR" sz="1400" b="1" dirty="0" err="1"/>
                  <a:t>was</a:t>
                </a:r>
                <a:r>
                  <a:rPr lang="fr-FR" sz="1400" b="1" dirty="0"/>
                  <a:t> made</a:t>
                </a:r>
                <a:endParaRPr lang="en-GB" sz="1400" dirty="0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EC026C9-075C-7344-EAFE-1BDF819B86EA}"/>
                  </a:ext>
                </a:extLst>
              </p:cNvPr>
              <p:cNvSpPr txBox="1"/>
              <p:nvPr/>
            </p:nvSpPr>
            <p:spPr>
              <a:xfrm>
                <a:off x="608054" y="5289301"/>
                <a:ext cx="5476372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400" dirty="0"/>
                  <a:t>• </a:t>
                </a:r>
                <a:r>
                  <a:rPr lang="fr-FR" sz="1400" b="1" dirty="0"/>
                  <a:t>Publication &amp; Grant lag </a:t>
                </a:r>
                <a:r>
                  <a:rPr lang="fr-FR" sz="1400" dirty="0"/>
                  <a:t>1.5-4+years; long </a:t>
                </a:r>
                <a:r>
                  <a:rPr lang="fr-FR" sz="1400" dirty="0" err="1"/>
                  <a:t>procedure</a:t>
                </a:r>
                <a:r>
                  <a:rPr lang="fr-FR" sz="1400" dirty="0"/>
                  <a:t> </a:t>
                </a:r>
                <a:r>
                  <a:rPr lang="fr-FR" sz="1400" dirty="0" err="1"/>
                  <a:t>which</a:t>
                </a:r>
                <a:r>
                  <a:rPr lang="fr-FR" sz="1400" dirty="0"/>
                  <a:t> can </a:t>
                </a:r>
                <a:r>
                  <a:rPr lang="fr-FR" sz="1400" dirty="0" err="1"/>
                  <a:t>be</a:t>
                </a:r>
                <a:r>
                  <a:rPr lang="fr-FR" sz="1400" dirty="0"/>
                  <a:t> longer in </a:t>
                </a:r>
                <a:r>
                  <a:rPr lang="fr-FR" sz="1400" dirty="0" err="1"/>
                  <a:t>some</a:t>
                </a:r>
                <a:r>
                  <a:rPr lang="fr-FR" sz="1400" dirty="0"/>
                  <a:t> juridictions (e.g. </a:t>
                </a:r>
                <a:r>
                  <a:rPr lang="fr-FR" sz="1400" dirty="0" err="1"/>
                  <a:t>postpone</a:t>
                </a:r>
                <a:r>
                  <a:rPr lang="fr-FR" sz="1400" dirty="0"/>
                  <a:t> </a:t>
                </a:r>
                <a:r>
                  <a:rPr lang="fr-FR" sz="1400" dirty="0" err="1"/>
                  <a:t>examination</a:t>
                </a:r>
                <a:r>
                  <a:rPr lang="fr-FR" sz="1400" dirty="0"/>
                  <a:t> in Germany up to 7 </a:t>
                </a:r>
                <a:r>
                  <a:rPr lang="fr-FR" sz="1400" dirty="0" err="1"/>
                  <a:t>years</a:t>
                </a:r>
                <a:r>
                  <a:rPr lang="fr-FR" sz="1400" dirty="0"/>
                  <a:t>)</a:t>
                </a:r>
                <a:endParaRPr lang="en-GB" sz="1400" dirty="0"/>
              </a:p>
            </p:txBody>
          </p:sp>
        </p:grp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F85C5FA-17B9-5258-8E67-405DAEA40C1B}"/>
              </a:ext>
            </a:extLst>
          </p:cNvPr>
          <p:cNvGrpSpPr/>
          <p:nvPr/>
        </p:nvGrpSpPr>
        <p:grpSpPr>
          <a:xfrm>
            <a:off x="-206035" y="3364710"/>
            <a:ext cx="6405217" cy="2484784"/>
            <a:chOff x="-31516" y="3346988"/>
            <a:chExt cx="5884349" cy="2264887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23585B32-5AD7-0213-0AC5-F5AB905409F1}"/>
                </a:ext>
              </a:extLst>
            </p:cNvPr>
            <p:cNvSpPr/>
            <p:nvPr/>
          </p:nvSpPr>
          <p:spPr>
            <a:xfrm>
              <a:off x="396536" y="3562873"/>
              <a:ext cx="5387063" cy="200300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2BCEEAFF-CE16-6315-6BBC-95CEE1750650}"/>
                </a:ext>
              </a:extLst>
            </p:cNvPr>
            <p:cNvGrpSpPr/>
            <p:nvPr/>
          </p:nvGrpSpPr>
          <p:grpSpPr>
            <a:xfrm>
              <a:off x="-31516" y="3346988"/>
              <a:ext cx="5884349" cy="2264887"/>
              <a:chOff x="5814592" y="1535467"/>
              <a:chExt cx="5884349" cy="2264887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AA65EE14-12B0-0397-E923-F64D506E072A}"/>
                  </a:ext>
                </a:extLst>
              </p:cNvPr>
              <p:cNvSpPr/>
              <p:nvPr/>
            </p:nvSpPr>
            <p:spPr>
              <a:xfrm>
                <a:off x="8631287" y="1535467"/>
                <a:ext cx="184730" cy="338554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 algn="ctr"/>
                <a:endParaRPr lang="en-US" sz="1600" b="1" cap="none" spc="0" dirty="0">
                  <a:ln/>
                  <a:solidFill>
                    <a:srgbClr val="FFC000"/>
                  </a:solidFill>
                  <a:effectLst/>
                </a:endParaRP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38463BBD-B549-937C-0083-35073717D866}"/>
                  </a:ext>
                </a:extLst>
              </p:cNvPr>
              <p:cNvSpPr/>
              <p:nvPr/>
            </p:nvSpPr>
            <p:spPr>
              <a:xfrm>
                <a:off x="5814592" y="1889150"/>
                <a:ext cx="4134347" cy="30777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US" sz="1400" b="0" cap="none" spc="0" dirty="0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RIGHTS &amp; PROTECTION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6768EAA-B5A9-1970-FE26-7A66A3FD1B42}"/>
                  </a:ext>
                </a:extLst>
              </p:cNvPr>
              <p:cNvSpPr txBox="1"/>
              <p:nvPr/>
            </p:nvSpPr>
            <p:spPr>
              <a:xfrm>
                <a:off x="6353565" y="2197186"/>
                <a:ext cx="337528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400" dirty="0"/>
                  <a:t>• </a:t>
                </a:r>
                <a:r>
                  <a:rPr lang="fr-FR" sz="1400" b="1" dirty="0"/>
                  <a:t>Territorial -&gt; </a:t>
                </a:r>
                <a:r>
                  <a:rPr lang="fr-FR" sz="1400" dirty="0" err="1"/>
                  <a:t>protects</a:t>
                </a:r>
                <a:r>
                  <a:rPr lang="fr-FR" sz="1400" dirty="0"/>
                  <a:t> </a:t>
                </a:r>
                <a:r>
                  <a:rPr lang="fr-FR" sz="1400" dirty="0" err="1"/>
                  <a:t>only</a:t>
                </a:r>
                <a:r>
                  <a:rPr lang="fr-FR" sz="1400" dirty="0"/>
                  <a:t> </a:t>
                </a:r>
                <a:r>
                  <a:rPr lang="fr-FR" sz="1400" dirty="0" err="1"/>
                  <a:t>where</a:t>
                </a:r>
                <a:r>
                  <a:rPr lang="fr-FR" sz="1400" dirty="0"/>
                  <a:t> </a:t>
                </a:r>
                <a:r>
                  <a:rPr lang="fr-FR" sz="1400" dirty="0" err="1"/>
                  <a:t>granted</a:t>
                </a:r>
                <a:endParaRPr lang="en-GB" sz="1400" dirty="0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AB18E1D-E9DB-CADF-8499-B4C6DA9A79ED}"/>
                  </a:ext>
                </a:extLst>
              </p:cNvPr>
              <p:cNvSpPr txBox="1"/>
              <p:nvPr/>
            </p:nvSpPr>
            <p:spPr>
              <a:xfrm>
                <a:off x="6353565" y="2498633"/>
                <a:ext cx="5345376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400" dirty="0"/>
                  <a:t>• </a:t>
                </a:r>
                <a:r>
                  <a:rPr lang="fr-FR" sz="1400" b="1" dirty="0"/>
                  <a:t>Claims </a:t>
                </a:r>
                <a:r>
                  <a:rPr lang="fr-FR" sz="1400" b="1" dirty="0" err="1"/>
                  <a:t>define</a:t>
                </a:r>
                <a:r>
                  <a:rPr lang="fr-FR" sz="1400" b="1" dirty="0"/>
                  <a:t> the </a:t>
                </a:r>
                <a:r>
                  <a:rPr lang="fr-FR" sz="1400" b="1" dirty="0" err="1"/>
                  <a:t>legal</a:t>
                </a:r>
                <a:r>
                  <a:rPr lang="fr-FR" sz="1400" b="1" dirty="0"/>
                  <a:t> scope </a:t>
                </a:r>
                <a:r>
                  <a:rPr lang="fr-FR" sz="1400" dirty="0"/>
                  <a:t>-&gt; scope of a </a:t>
                </a:r>
                <a:r>
                  <a:rPr lang="fr-FR" sz="1400" dirty="0" err="1"/>
                  <a:t>granted</a:t>
                </a:r>
                <a:r>
                  <a:rPr lang="fr-FR" sz="1400" dirty="0"/>
                  <a:t> patent can </a:t>
                </a:r>
                <a:r>
                  <a:rPr lang="fr-FR" sz="1400" dirty="0" err="1"/>
                  <a:t>never</a:t>
                </a:r>
                <a:r>
                  <a:rPr lang="fr-FR" sz="1400" dirty="0"/>
                  <a:t> </a:t>
                </a:r>
                <a:r>
                  <a:rPr lang="fr-FR" sz="1400" dirty="0" err="1"/>
                  <a:t>be</a:t>
                </a:r>
                <a:r>
                  <a:rPr lang="fr-FR" sz="1400" dirty="0"/>
                  <a:t> </a:t>
                </a:r>
                <a:r>
                  <a:rPr lang="fr-FR" sz="1400" dirty="0" err="1"/>
                  <a:t>broader</a:t>
                </a:r>
                <a:r>
                  <a:rPr lang="fr-FR" sz="1400" dirty="0"/>
                  <a:t> </a:t>
                </a:r>
                <a:r>
                  <a:rPr lang="fr-FR" sz="1400" dirty="0" err="1"/>
                  <a:t>than</a:t>
                </a:r>
                <a:r>
                  <a:rPr lang="fr-FR" sz="1400" dirty="0"/>
                  <a:t> the application as </a:t>
                </a:r>
                <a:r>
                  <a:rPr lang="fr-FR" sz="1400" dirty="0" err="1"/>
                  <a:t>filled</a:t>
                </a:r>
                <a:r>
                  <a:rPr lang="fr-FR" sz="1400" dirty="0"/>
                  <a:t>.</a:t>
                </a:r>
                <a:endParaRPr lang="fr-FR" sz="1400" b="1" dirty="0"/>
              </a:p>
              <a:p>
                <a:endParaRPr lang="en-GB" sz="1400" dirty="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85BB1AB-3920-63BE-BB50-01AF15CD00AC}"/>
                  </a:ext>
                </a:extLst>
              </p:cNvPr>
              <p:cNvSpPr txBox="1"/>
              <p:nvPr/>
            </p:nvSpPr>
            <p:spPr>
              <a:xfrm>
                <a:off x="6353565" y="2975687"/>
                <a:ext cx="487024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400" dirty="0"/>
                  <a:t>• </a:t>
                </a:r>
                <a:r>
                  <a:rPr lang="fr-FR" sz="1400" b="1" dirty="0"/>
                  <a:t>publication – </a:t>
                </a:r>
                <a:r>
                  <a:rPr lang="fr-FR" sz="1400" dirty="0" err="1"/>
                  <a:t>when</a:t>
                </a:r>
                <a:r>
                  <a:rPr lang="fr-FR" sz="1400" dirty="0"/>
                  <a:t> </a:t>
                </a:r>
                <a:r>
                  <a:rPr lang="fr-FR" sz="1400" dirty="0" err="1"/>
                  <a:t>rights</a:t>
                </a:r>
                <a:r>
                  <a:rPr lang="fr-FR" sz="1400" dirty="0"/>
                  <a:t> (</a:t>
                </a:r>
                <a:r>
                  <a:rPr lang="fr-FR" sz="1400" dirty="0" err="1"/>
                  <a:t>i.e</a:t>
                </a:r>
                <a:r>
                  <a:rPr lang="fr-FR" sz="1400" dirty="0"/>
                  <a:t> </a:t>
                </a:r>
                <a:r>
                  <a:rPr lang="fr-FR" sz="1400" dirty="0" err="1"/>
                  <a:t>provisional</a:t>
                </a:r>
                <a:r>
                  <a:rPr lang="fr-FR" sz="1400" dirty="0"/>
                  <a:t> protection) </a:t>
                </a:r>
                <a:r>
                  <a:rPr lang="fr-FR" sz="1400" dirty="0" err="1"/>
                  <a:t>begins</a:t>
                </a:r>
                <a:r>
                  <a:rPr lang="fr-FR" sz="1400" dirty="0"/>
                  <a:t>.</a:t>
                </a:r>
                <a:endParaRPr lang="fr-FR" sz="1400" b="1" dirty="0"/>
              </a:p>
              <a:p>
                <a:endParaRPr lang="en-GB" sz="1400" dirty="0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574F0AF-3D74-3D82-4306-E947A0A83DEC}"/>
                  </a:ext>
                </a:extLst>
              </p:cNvPr>
              <p:cNvSpPr txBox="1"/>
              <p:nvPr/>
            </p:nvSpPr>
            <p:spPr>
              <a:xfrm>
                <a:off x="6353564" y="3277134"/>
                <a:ext cx="487024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400" dirty="0"/>
                  <a:t>• </a:t>
                </a:r>
                <a:r>
                  <a:rPr lang="fr-FR" sz="1400" b="1" dirty="0"/>
                  <a:t>Grant </a:t>
                </a:r>
                <a:r>
                  <a:rPr lang="fr-FR" sz="1400" dirty="0" err="1"/>
                  <a:t>when</a:t>
                </a:r>
                <a:r>
                  <a:rPr lang="fr-FR" sz="1400" dirty="0"/>
                  <a:t> </a:t>
                </a:r>
                <a:r>
                  <a:rPr lang="fr-FR" sz="1400" dirty="0" err="1"/>
                  <a:t>enforceable</a:t>
                </a:r>
                <a:r>
                  <a:rPr lang="fr-FR" sz="1400" dirty="0"/>
                  <a:t> protection </a:t>
                </a:r>
                <a:r>
                  <a:rPr lang="fr-FR" sz="1400" dirty="0" err="1"/>
                  <a:t>begins</a:t>
                </a:r>
                <a:r>
                  <a:rPr lang="fr-FR" sz="1400" dirty="0"/>
                  <a:t>.</a:t>
                </a:r>
              </a:p>
              <a:p>
                <a:endParaRPr lang="en-GB" sz="1400" dirty="0"/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8A0DA87-889A-3AA5-C7A1-5AB24A327E6C}"/>
              </a:ext>
            </a:extLst>
          </p:cNvPr>
          <p:cNvGrpSpPr/>
          <p:nvPr/>
        </p:nvGrpSpPr>
        <p:grpSpPr>
          <a:xfrm>
            <a:off x="-3592286" y="-3069771"/>
            <a:ext cx="20795726" cy="11899798"/>
            <a:chOff x="-1238250" y="70813"/>
            <a:chExt cx="14668500" cy="6582648"/>
          </a:xfrm>
          <a:scene3d>
            <a:camera prst="orthographicFront">
              <a:rot lat="0" lon="0" rev="1800000"/>
            </a:camera>
            <a:lightRig rig="threePt" dir="t"/>
          </a:scene3d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B9E8A3E-C4F1-4FEE-6160-4BE55F5C6805}"/>
                </a:ext>
              </a:extLst>
            </p:cNvPr>
            <p:cNvGrpSpPr/>
            <p:nvPr userDrawn="1"/>
          </p:nvGrpSpPr>
          <p:grpSpPr>
            <a:xfrm>
              <a:off x="-1238250" y="2825520"/>
              <a:ext cx="14668500" cy="410394"/>
              <a:chOff x="-685800" y="2956303"/>
              <a:chExt cx="14668500" cy="410394"/>
            </a:xfrm>
          </p:grpSpPr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50446FF2-F133-A09B-BC6E-43215B2AFA7D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E9874FA4-A94C-F089-2C2A-46CBA1C8FEA3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B037CDB5-CB84-8D53-5F46-39C0DBA70A5A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11660155-9664-BA26-E8BA-3B48495EDB6A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911E08A-B93A-AAD5-0D78-78A38F486D8C}"/>
                </a:ext>
              </a:extLst>
            </p:cNvPr>
            <p:cNvGrpSpPr/>
            <p:nvPr userDrawn="1"/>
          </p:nvGrpSpPr>
          <p:grpSpPr>
            <a:xfrm>
              <a:off x="-1238250" y="3710392"/>
              <a:ext cx="14668500" cy="410394"/>
              <a:chOff x="-685800" y="2956303"/>
              <a:chExt cx="14668500" cy="410394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49B5357-E4EA-F977-34B0-7782C4D14353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C3BEBED-30FE-87F5-B54C-5D865A377C4C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715B4F9D-F648-6192-AB8B-DDCEAF5B42CB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B0C53E1-C5F9-FE86-946A-07FFFB5DB082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893A763-AE1A-D26C-3267-0EBF73094F86}"/>
                </a:ext>
              </a:extLst>
            </p:cNvPr>
            <p:cNvGrpSpPr/>
            <p:nvPr userDrawn="1"/>
          </p:nvGrpSpPr>
          <p:grpSpPr>
            <a:xfrm>
              <a:off x="-1238250" y="4583102"/>
              <a:ext cx="14668500" cy="410394"/>
              <a:chOff x="-685800" y="2956303"/>
              <a:chExt cx="14668500" cy="410394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48AFE2-C070-48B7-4ACF-1D9A17CC8A03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CA63DE3-FD0E-8621-1BB6-1A109C133329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7762BE4-9E05-8028-478F-E5DCC1C8E13A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CD0F18A-F394-5117-ADF1-7C9AC67F65C5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DA21434-D4C7-C360-A821-A60BAD3C7257}"/>
                </a:ext>
              </a:extLst>
            </p:cNvPr>
            <p:cNvGrpSpPr/>
            <p:nvPr userDrawn="1"/>
          </p:nvGrpSpPr>
          <p:grpSpPr>
            <a:xfrm>
              <a:off x="-1238250" y="5467974"/>
              <a:ext cx="14668500" cy="410394"/>
              <a:chOff x="-685800" y="2956303"/>
              <a:chExt cx="14668500" cy="410394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61A5B09-BE12-28C8-4ABC-09E430E538B4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895F01D-80D4-7A39-7227-4F1AA64235AF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725F915-1426-2354-124D-8BAD6E523D9C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4EF79E2-EA84-C0E8-1312-F7D003CBFC8D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1053E17-036A-5D76-09C4-93324E686081}"/>
                </a:ext>
              </a:extLst>
            </p:cNvPr>
            <p:cNvGrpSpPr/>
            <p:nvPr userDrawn="1"/>
          </p:nvGrpSpPr>
          <p:grpSpPr>
            <a:xfrm>
              <a:off x="-1238250" y="1859650"/>
              <a:ext cx="14668500" cy="410394"/>
              <a:chOff x="-685800" y="2956303"/>
              <a:chExt cx="14668500" cy="410394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F3749E2-5B38-81F4-994D-DE6FA1F3E5E3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728B3FB-0C4A-0357-78A1-013AC8775266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DE2714D-5E0B-6456-4010-2586EE30612C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98B81E9-D17B-FCA3-DFF4-80CDC66C3AAC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84103A7-97BC-2156-C4F2-8CF167667DCA}"/>
                </a:ext>
              </a:extLst>
            </p:cNvPr>
            <p:cNvGrpSpPr/>
            <p:nvPr userDrawn="1"/>
          </p:nvGrpSpPr>
          <p:grpSpPr>
            <a:xfrm>
              <a:off x="-1238250" y="70813"/>
              <a:ext cx="14668500" cy="410394"/>
              <a:chOff x="-685800" y="2956303"/>
              <a:chExt cx="14668500" cy="410394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309F7AB-E664-1F38-581A-FDDC2E1BC5D1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973F83E-EC03-428D-0BC7-F5BAF5833B61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D006EB3-5637-0B1A-01A1-FDBF4E08BFF8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0184191-DE23-ADCA-757F-4D7779D63213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6B6CAEC-AA62-603E-CE02-3DC56C918FD8}"/>
                </a:ext>
              </a:extLst>
            </p:cNvPr>
            <p:cNvGrpSpPr/>
            <p:nvPr userDrawn="1"/>
          </p:nvGrpSpPr>
          <p:grpSpPr>
            <a:xfrm>
              <a:off x="-1238250" y="949927"/>
              <a:ext cx="14668500" cy="410394"/>
              <a:chOff x="-685800" y="2956303"/>
              <a:chExt cx="14668500" cy="410394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5D58D5D-2DC4-6391-8BA7-3BBB2938D0F8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619AACC-5688-FBE5-43FF-BDE73FAE9514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1DF4E85-9785-6EB4-FE73-FF68AA4923E5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6B22450-7141-0F9F-79FF-B7C524ACC608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C6B61D6-4214-1590-9CA5-A01EE1BAF22C}"/>
                </a:ext>
              </a:extLst>
            </p:cNvPr>
            <p:cNvGrpSpPr/>
            <p:nvPr userDrawn="1"/>
          </p:nvGrpSpPr>
          <p:grpSpPr>
            <a:xfrm>
              <a:off x="-1238250" y="6243067"/>
              <a:ext cx="14668500" cy="410394"/>
              <a:chOff x="-685800" y="2956303"/>
              <a:chExt cx="14668500" cy="410394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971689A-2732-4ABA-B562-4A82C1F917DB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23048F7-84C3-7F3B-1252-0ABCE7669820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A6AA894-9228-6F76-6C87-D0D661FCB8CE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7DE5055-B3DA-8BAC-ECAC-27F28CECDCF4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089AB682-E7D1-647E-636C-B9B2982B2C0B}"/>
              </a:ext>
            </a:extLst>
          </p:cNvPr>
          <p:cNvGrpSpPr/>
          <p:nvPr/>
        </p:nvGrpSpPr>
        <p:grpSpPr>
          <a:xfrm>
            <a:off x="-428506" y="6388535"/>
            <a:ext cx="4114800" cy="422069"/>
            <a:chOff x="2436266" y="6394843"/>
            <a:chExt cx="4114800" cy="422069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4DA79A55-5E8E-AA75-028A-19B70A0C772E}"/>
                </a:ext>
              </a:extLst>
            </p:cNvPr>
            <p:cNvSpPr/>
            <p:nvPr/>
          </p:nvSpPr>
          <p:spPr>
            <a:xfrm>
              <a:off x="3440863" y="6451787"/>
              <a:ext cx="1894114" cy="365125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3" name="Footer Placeholder 4">
              <a:extLst>
                <a:ext uri="{FF2B5EF4-FFF2-40B4-BE49-F238E27FC236}">
                  <a16:creationId xmlns:a16="http://schemas.microsoft.com/office/drawing/2014/main" id="{AD144795-DC93-DD57-DE22-23632868795D}"/>
                </a:ext>
              </a:extLst>
            </p:cNvPr>
            <p:cNvSpPr txBox="1">
              <a:spLocks/>
            </p:cNvSpPr>
            <p:nvPr/>
          </p:nvSpPr>
          <p:spPr>
            <a:xfrm>
              <a:off x="2436266" y="6394843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© 2026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</a:rPr>
                <a:t>TechnoGenesis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. All rights reserved</a:t>
              </a:r>
              <a:endParaRPr lang="en-GB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7845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651C7-1536-1565-E5CC-B970CBEC1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7294-D181-29A0-3B75-71C07741D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4762"/>
            <a:ext cx="12172950" cy="68484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3C1548D-175B-DE46-6029-9996022C71E5}"/>
              </a:ext>
            </a:extLst>
          </p:cNvPr>
          <p:cNvSpPr/>
          <p:nvPr/>
        </p:nvSpPr>
        <p:spPr>
          <a:xfrm>
            <a:off x="129110" y="224134"/>
            <a:ext cx="1932771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Reading Patents -3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BADC03-F0B4-E90B-066F-A55E868BB1B5}"/>
              </a:ext>
            </a:extLst>
          </p:cNvPr>
          <p:cNvSpPr/>
          <p:nvPr/>
        </p:nvSpPr>
        <p:spPr>
          <a:xfrm>
            <a:off x="3315847" y="240737"/>
            <a:ext cx="4522328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b="1" cap="none" spc="0" dirty="0">
                <a:ln/>
                <a:solidFill>
                  <a:schemeClr val="accent1">
                    <a:lumMod val="75000"/>
                  </a:schemeClr>
                </a:solidFill>
                <a:effectLst/>
              </a:rPr>
              <a:t>Methodology &amp; Limitations in patent analysis</a:t>
            </a:r>
            <a:endParaRPr lang="en-US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82628DE-D504-1E34-33EA-CDF1A24D7075}"/>
              </a:ext>
            </a:extLst>
          </p:cNvPr>
          <p:cNvSpPr/>
          <p:nvPr/>
        </p:nvSpPr>
        <p:spPr>
          <a:xfrm>
            <a:off x="150061" y="2109376"/>
            <a:ext cx="5914312" cy="244128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14A4A89-7544-BEF1-579D-E9CF7CB6B70C}"/>
              </a:ext>
            </a:extLst>
          </p:cNvPr>
          <p:cNvGrpSpPr/>
          <p:nvPr/>
        </p:nvGrpSpPr>
        <p:grpSpPr>
          <a:xfrm>
            <a:off x="-767599" y="2233706"/>
            <a:ext cx="6761585" cy="2118310"/>
            <a:chOff x="-431722" y="4555986"/>
            <a:chExt cx="6761585" cy="211831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CB6BCE1-C1FE-C3D6-009C-B9B5BB9AFF93}"/>
                </a:ext>
              </a:extLst>
            </p:cNvPr>
            <p:cNvSpPr/>
            <p:nvPr/>
          </p:nvSpPr>
          <p:spPr>
            <a:xfrm>
              <a:off x="2651317" y="4555986"/>
              <a:ext cx="1334211" cy="338554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harsh" dir="t"/>
              </a:scene3d>
              <a:sp3d extrusionH="57150" prstMaterial="matte">
                <a:bevelT w="63500" h="12700" prst="angle"/>
                <a:contourClr>
                  <a:schemeClr val="bg1">
                    <a:lumMod val="65000"/>
                  </a:schemeClr>
                </a:contourClr>
              </a:sp3d>
            </a:bodyPr>
            <a:lstStyle/>
            <a:p>
              <a:pPr algn="ctr"/>
              <a:r>
                <a:rPr lang="en-US" sz="1600" b="1" cap="none" spc="0" dirty="0">
                  <a:ln/>
                  <a:solidFill>
                    <a:srgbClr val="00B050"/>
                  </a:solidFill>
                  <a:effectLst/>
                </a:rPr>
                <a:t>Methodology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4B09EF3-DFF7-6436-9BB8-08C5E1543F94}"/>
                </a:ext>
              </a:extLst>
            </p:cNvPr>
            <p:cNvSpPr/>
            <p:nvPr/>
          </p:nvSpPr>
          <p:spPr>
            <a:xfrm>
              <a:off x="-431722" y="4715907"/>
              <a:ext cx="4354498" cy="30777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endParaRPr lang="en-US" sz="1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1A9342C-760A-4A33-3212-BC512950C7AB}"/>
                </a:ext>
              </a:extLst>
            </p:cNvPr>
            <p:cNvSpPr txBox="1"/>
            <p:nvPr/>
          </p:nvSpPr>
          <p:spPr>
            <a:xfrm>
              <a:off x="608054" y="4987854"/>
              <a:ext cx="525252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/>
                <a:t>• </a:t>
              </a:r>
              <a:r>
                <a:rPr lang="fr-FR" sz="1400" b="1" dirty="0"/>
                <a:t>Patent </a:t>
              </a:r>
              <a:r>
                <a:rPr lang="fr-FR" sz="1400" b="1" dirty="0" err="1"/>
                <a:t>families</a:t>
              </a:r>
              <a:r>
                <a:rPr lang="fr-FR" sz="1400" b="1" dirty="0"/>
                <a:t> </a:t>
              </a:r>
              <a:r>
                <a:rPr lang="fr-FR" sz="1400" b="1" dirty="0" err="1"/>
                <a:t>analysis</a:t>
              </a:r>
              <a:r>
                <a:rPr lang="fr-FR" sz="1400" b="1" dirty="0"/>
                <a:t>  </a:t>
              </a:r>
              <a:r>
                <a:rPr lang="fr-FR" sz="1400" dirty="0"/>
                <a:t>– Family as a unit, plot versus </a:t>
              </a:r>
              <a:r>
                <a:rPr lang="fr-FR" sz="1400" dirty="0" err="1"/>
                <a:t>priority</a:t>
              </a:r>
              <a:r>
                <a:rPr lang="fr-FR" sz="1400" dirty="0"/>
                <a:t> </a:t>
              </a:r>
              <a:r>
                <a:rPr lang="fr-FR" sz="1400" dirty="0" err="1"/>
                <a:t>year</a:t>
              </a:r>
              <a:r>
                <a:rPr lang="fr-FR" sz="1400" dirty="0"/>
                <a:t>.</a:t>
              </a:r>
              <a:endParaRPr lang="en-GB" sz="140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CE26641-DCCE-53F4-2C65-032B2B4EB307}"/>
                </a:ext>
              </a:extLst>
            </p:cNvPr>
            <p:cNvSpPr txBox="1"/>
            <p:nvPr/>
          </p:nvSpPr>
          <p:spPr>
            <a:xfrm>
              <a:off x="608055" y="5289301"/>
              <a:ext cx="5721808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/>
                <a:t>• </a:t>
              </a:r>
              <a:r>
                <a:rPr lang="fr-FR" sz="1400" b="1" dirty="0"/>
                <a:t>Combination of IPC/CPC classification codes </a:t>
              </a:r>
              <a:r>
                <a:rPr lang="fr-FR" sz="1400" dirty="0"/>
                <a:t>(</a:t>
              </a:r>
              <a:r>
                <a:rPr lang="fr-FR" sz="1400" dirty="0" err="1"/>
                <a:t>Technology</a:t>
              </a:r>
              <a:r>
                <a:rPr lang="fr-FR" sz="1400" dirty="0"/>
                <a:t>) </a:t>
              </a:r>
              <a:r>
                <a:rPr lang="fr-FR" sz="1400" b="1" dirty="0"/>
                <a:t>&amp; Keywords </a:t>
              </a:r>
              <a:r>
                <a:rPr lang="fr-FR" sz="1400" dirty="0"/>
                <a:t>-</a:t>
              </a:r>
              <a:r>
                <a:rPr lang="fr-FR" sz="1400" b="1" dirty="0"/>
                <a:t> </a:t>
              </a:r>
              <a:r>
                <a:rPr lang="fr-FR" sz="1400" dirty="0"/>
                <a:t>(</a:t>
              </a:r>
              <a:r>
                <a:rPr lang="fr-FR" sz="1400" dirty="0" err="1"/>
                <a:t>Title</a:t>
              </a:r>
              <a:r>
                <a:rPr lang="fr-FR" sz="1400" dirty="0"/>
                <a:t>/Abstract/claims). Codes </a:t>
              </a:r>
              <a:r>
                <a:rPr lang="fr-FR" sz="1400" dirty="0" err="1"/>
                <a:t>bound</a:t>
              </a:r>
              <a:r>
                <a:rPr lang="fr-FR" sz="1400" dirty="0"/>
                <a:t> the </a:t>
              </a:r>
              <a:r>
                <a:rPr lang="fr-FR" sz="1400" dirty="0" err="1"/>
                <a:t>domain</a:t>
              </a:r>
              <a:r>
                <a:rPr lang="fr-FR" sz="1400" dirty="0"/>
                <a:t>, keywords </a:t>
              </a:r>
              <a:r>
                <a:rPr lang="fr-FR" sz="1400" dirty="0" err="1"/>
                <a:t>refine</a:t>
              </a:r>
              <a:r>
                <a:rPr lang="fr-FR" sz="1400" dirty="0"/>
                <a:t> </a:t>
              </a:r>
              <a:r>
                <a:rPr lang="fr-FR" sz="1400" dirty="0" err="1"/>
                <a:t>them</a:t>
              </a:r>
              <a:r>
                <a:rPr lang="fr-FR" sz="1400" dirty="0"/>
                <a:t> and catch </a:t>
              </a:r>
              <a:r>
                <a:rPr lang="fr-FR" sz="1400" dirty="0" err="1"/>
                <a:t>emerging</a:t>
              </a:r>
              <a:r>
                <a:rPr lang="fr-FR" sz="1400" dirty="0"/>
                <a:t> technologies </a:t>
              </a:r>
              <a:r>
                <a:rPr lang="fr-FR" sz="1400" dirty="0" err="1"/>
                <a:t>that</a:t>
              </a:r>
              <a:r>
                <a:rPr lang="fr-FR" sz="1400" dirty="0"/>
                <a:t> classification misses. (e.g. </a:t>
              </a:r>
              <a:r>
                <a:rPr lang="fr-FR" sz="1400" dirty="0" err="1"/>
                <a:t>hollow</a:t>
              </a:r>
              <a:r>
                <a:rPr lang="fr-FR" sz="1400" dirty="0"/>
                <a:t> –</a:t>
              </a:r>
              <a:r>
                <a:rPr lang="fr-FR" sz="1400" dirty="0" err="1"/>
                <a:t>core</a:t>
              </a:r>
              <a:r>
                <a:rPr lang="fr-FR" sz="1400" dirty="0"/>
                <a:t>: G02B 6/02328, OCT: A61B5/0066). One patent application can carry </a:t>
              </a:r>
              <a:r>
                <a:rPr lang="fr-FR" sz="1400" dirty="0" err="1"/>
                <a:t>several</a:t>
              </a:r>
              <a:r>
                <a:rPr lang="fr-FR" sz="1400" dirty="0"/>
                <a:t> codes</a:t>
              </a:r>
            </a:p>
            <a:p>
              <a:endParaRPr lang="en-GB" sz="1400" dirty="0"/>
            </a:p>
          </p:txBody>
        </p:sp>
      </p:grp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8E2AB4F-E36A-13B2-B2B3-1030164BBDDF}"/>
              </a:ext>
            </a:extLst>
          </p:cNvPr>
          <p:cNvSpPr/>
          <p:nvPr/>
        </p:nvSpPr>
        <p:spPr>
          <a:xfrm>
            <a:off x="6277687" y="2109375"/>
            <a:ext cx="5764251" cy="244128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DE6E401-944E-29B1-F0E9-78A8748FC208}"/>
              </a:ext>
            </a:extLst>
          </p:cNvPr>
          <p:cNvGrpSpPr/>
          <p:nvPr/>
        </p:nvGrpSpPr>
        <p:grpSpPr>
          <a:xfrm>
            <a:off x="5470127" y="2293053"/>
            <a:ext cx="6721873" cy="1777322"/>
            <a:chOff x="-431722" y="4485150"/>
            <a:chExt cx="7079806" cy="1777322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347D024-8DF3-D191-5877-00911F339940}"/>
                </a:ext>
              </a:extLst>
            </p:cNvPr>
            <p:cNvSpPr/>
            <p:nvPr/>
          </p:nvSpPr>
          <p:spPr>
            <a:xfrm>
              <a:off x="1506390" y="4485150"/>
              <a:ext cx="3630248" cy="338554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harsh" dir="t"/>
              </a:scene3d>
              <a:sp3d extrusionH="57150" prstMaterial="matte">
                <a:bevelT w="63500" h="12700" prst="angle"/>
                <a:contourClr>
                  <a:schemeClr val="bg1">
                    <a:lumMod val="65000"/>
                  </a:schemeClr>
                </a:contourClr>
              </a:sp3d>
            </a:bodyPr>
            <a:lstStyle/>
            <a:p>
              <a:pPr algn="ctr"/>
              <a:r>
                <a:rPr lang="en-US" sz="1600" b="1" cap="none" spc="0" dirty="0">
                  <a:ln/>
                  <a:solidFill>
                    <a:srgbClr val="FFC000"/>
                  </a:solidFill>
                  <a:effectLst/>
                </a:rPr>
                <a:t>The 18-month black box &amp; even more!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3F02AB3-EA7E-2161-BF84-A46B4986C85C}"/>
                </a:ext>
              </a:extLst>
            </p:cNvPr>
            <p:cNvSpPr/>
            <p:nvPr/>
          </p:nvSpPr>
          <p:spPr>
            <a:xfrm>
              <a:off x="-431722" y="4715907"/>
              <a:ext cx="4354498" cy="30777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endParaRPr lang="en-US" sz="1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B338843-F6E5-D464-4ECE-450428DC773B}"/>
                </a:ext>
              </a:extLst>
            </p:cNvPr>
            <p:cNvSpPr txBox="1"/>
            <p:nvPr/>
          </p:nvSpPr>
          <p:spPr>
            <a:xfrm>
              <a:off x="608054" y="4951195"/>
              <a:ext cx="600908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/>
                <a:t>• </a:t>
              </a:r>
              <a:r>
                <a:rPr lang="fr-FR" sz="1400" b="1" dirty="0"/>
                <a:t>Black box</a:t>
              </a:r>
              <a:r>
                <a:rPr lang="fr-FR" sz="1400" dirty="0"/>
                <a:t>– Application </a:t>
              </a:r>
              <a:r>
                <a:rPr lang="fr-FR" sz="1400" dirty="0" err="1"/>
                <a:t>stay</a:t>
              </a:r>
              <a:r>
                <a:rPr lang="fr-FR" sz="1400" dirty="0"/>
                <a:t> secret ~18 </a:t>
              </a:r>
              <a:r>
                <a:rPr lang="fr-FR" sz="1400" dirty="0" err="1"/>
                <a:t>months</a:t>
              </a:r>
              <a:r>
                <a:rPr lang="fr-FR" sz="1400" dirty="0"/>
                <a:t> </a:t>
              </a:r>
              <a:r>
                <a:rPr lang="fr-FR" sz="1400" dirty="0" err="1"/>
                <a:t>after</a:t>
              </a:r>
              <a:r>
                <a:rPr lang="fr-FR" sz="1400" dirty="0"/>
                <a:t> </a:t>
              </a:r>
              <a:r>
                <a:rPr lang="fr-FR" sz="1400" dirty="0" err="1"/>
                <a:t>earliest</a:t>
              </a:r>
              <a:r>
                <a:rPr lang="fr-FR" sz="1400" dirty="0"/>
                <a:t> </a:t>
              </a:r>
              <a:r>
                <a:rPr lang="fr-FR" sz="1400" dirty="0" err="1"/>
                <a:t>priority</a:t>
              </a:r>
              <a:r>
                <a:rPr lang="fr-FR" sz="1400" dirty="0"/>
                <a:t> -&gt; 18  </a:t>
              </a:r>
            </a:p>
            <a:p>
              <a:r>
                <a:rPr lang="fr-FR" sz="1400" dirty="0"/>
                <a:t>last </a:t>
              </a:r>
              <a:r>
                <a:rPr lang="fr-FR" sz="1400" dirty="0" err="1"/>
                <a:t>months</a:t>
              </a:r>
              <a:r>
                <a:rPr lang="fr-FR" sz="1400" dirty="0"/>
                <a:t> </a:t>
              </a:r>
              <a:r>
                <a:rPr lang="fr-FR" sz="1400" dirty="0" err="1"/>
                <a:t>can’t</a:t>
              </a:r>
              <a:r>
                <a:rPr lang="fr-FR" sz="1400" dirty="0"/>
                <a:t> </a:t>
              </a:r>
              <a:r>
                <a:rPr lang="fr-FR" sz="1400" dirty="0" err="1"/>
                <a:t>be</a:t>
              </a:r>
              <a:r>
                <a:rPr lang="fr-FR" sz="1400" dirty="0"/>
                <a:t> </a:t>
              </a:r>
              <a:r>
                <a:rPr lang="fr-FR" sz="1400" dirty="0" err="1"/>
                <a:t>considered</a:t>
              </a:r>
              <a:r>
                <a:rPr lang="fr-FR" sz="1400" dirty="0"/>
                <a:t> for an </a:t>
              </a:r>
              <a:r>
                <a:rPr lang="fr-FR" sz="1400" dirty="0" err="1"/>
                <a:t>analysis</a:t>
              </a:r>
              <a:endParaRPr lang="en-GB" sz="1400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480DEF2-6584-4446-5B07-7276C53715D9}"/>
                </a:ext>
              </a:extLst>
            </p:cNvPr>
            <p:cNvSpPr txBox="1"/>
            <p:nvPr/>
          </p:nvSpPr>
          <p:spPr>
            <a:xfrm>
              <a:off x="581018" y="5519518"/>
              <a:ext cx="484438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/>
                <a:t>• </a:t>
              </a:r>
              <a:r>
                <a:rPr lang="fr-FR" sz="1400" b="1" dirty="0"/>
                <a:t>International routes </a:t>
              </a:r>
              <a:r>
                <a:rPr lang="fr-FR" sz="1400" dirty="0"/>
                <a:t>– EP and WO (30/31 </a:t>
              </a:r>
              <a:r>
                <a:rPr lang="fr-FR" sz="1400" dirty="0" err="1"/>
                <a:t>months</a:t>
              </a:r>
              <a:r>
                <a:rPr lang="fr-FR" sz="1400" dirty="0"/>
                <a:t> to know) </a:t>
              </a:r>
              <a:endParaRPr lang="en-GB" sz="1400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E83B433-D230-E8EB-5547-7665D1785928}"/>
                </a:ext>
              </a:extLst>
            </p:cNvPr>
            <p:cNvSpPr txBox="1"/>
            <p:nvPr/>
          </p:nvSpPr>
          <p:spPr>
            <a:xfrm>
              <a:off x="581018" y="5954695"/>
              <a:ext cx="60670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/>
                <a:t>• </a:t>
              </a:r>
              <a:r>
                <a:rPr lang="fr-FR" sz="1400" b="1" dirty="0"/>
                <a:t>Volume ≠ value like publication ≠ </a:t>
              </a:r>
              <a:r>
                <a:rPr lang="fr-FR" sz="1400" b="1" dirty="0" err="1"/>
                <a:t>grant</a:t>
              </a:r>
              <a:r>
                <a:rPr lang="fr-FR" sz="1400" b="1" dirty="0"/>
                <a:t>; </a:t>
              </a:r>
              <a:r>
                <a:rPr lang="fr-FR" sz="1400" dirty="0" err="1"/>
                <a:t>counts</a:t>
              </a:r>
              <a:r>
                <a:rPr lang="fr-FR" sz="1400" dirty="0"/>
                <a:t> </a:t>
              </a:r>
              <a:r>
                <a:rPr lang="fr-FR" sz="1400" dirty="0" err="1"/>
                <a:t>differ</a:t>
              </a:r>
              <a:r>
                <a:rPr lang="fr-FR" sz="1400" dirty="0"/>
                <a:t> by source &amp; scope.</a:t>
              </a:r>
              <a:endParaRPr lang="en-GB" sz="1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60DBA1D5-EAE3-90D6-59C3-D785A8421D4C}"/>
              </a:ext>
            </a:extLst>
          </p:cNvPr>
          <p:cNvSpPr/>
          <p:nvPr/>
        </p:nvSpPr>
        <p:spPr>
          <a:xfrm>
            <a:off x="2542341" y="5186790"/>
            <a:ext cx="7107317" cy="43517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9A23709-D275-A15A-5931-54A6521CDDEC}"/>
              </a:ext>
            </a:extLst>
          </p:cNvPr>
          <p:cNvSpPr txBox="1"/>
          <p:nvPr/>
        </p:nvSpPr>
        <p:spPr>
          <a:xfrm>
            <a:off x="2975260" y="5225524"/>
            <a:ext cx="5872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To </a:t>
            </a:r>
            <a:r>
              <a:rPr lang="fr-FR" dirty="0" err="1"/>
              <a:t>take</a:t>
            </a:r>
            <a:r>
              <a:rPr lang="fr-FR" dirty="0"/>
              <a:t> </a:t>
            </a:r>
            <a:r>
              <a:rPr lang="fr-FR" b="1" dirty="0" err="1"/>
              <a:t>away</a:t>
            </a:r>
            <a:r>
              <a:rPr lang="fr-FR" b="1" dirty="0"/>
              <a:t>:</a:t>
            </a:r>
            <a:r>
              <a:rPr lang="fr-FR" dirty="0"/>
              <a:t>  a count </a:t>
            </a:r>
            <a:r>
              <a:rPr lang="fr-FR" dirty="0" err="1"/>
              <a:t>measures</a:t>
            </a:r>
            <a:r>
              <a:rPr lang="fr-FR" dirty="0"/>
              <a:t> </a:t>
            </a:r>
            <a:r>
              <a:rPr lang="fr-FR" dirty="0" err="1"/>
              <a:t>activity</a:t>
            </a:r>
            <a:r>
              <a:rPr lang="fr-FR" dirty="0"/>
              <a:t>, not </a:t>
            </a:r>
            <a:r>
              <a:rPr lang="fr-FR" dirty="0" err="1"/>
              <a:t>rights</a:t>
            </a:r>
            <a:r>
              <a:rPr lang="fr-FR" dirty="0"/>
              <a:t> or value</a:t>
            </a:r>
            <a:r>
              <a:rPr lang="fr-FR" sz="1400" dirty="0"/>
              <a:t>.</a:t>
            </a:r>
            <a:endParaRPr lang="en-GB" sz="1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67EB051-4A39-AA0E-4F5D-0372188C187A}"/>
              </a:ext>
            </a:extLst>
          </p:cNvPr>
          <p:cNvGrpSpPr/>
          <p:nvPr/>
        </p:nvGrpSpPr>
        <p:grpSpPr>
          <a:xfrm>
            <a:off x="-3592286" y="-3069771"/>
            <a:ext cx="20795726" cy="11899798"/>
            <a:chOff x="-1238250" y="70813"/>
            <a:chExt cx="14668500" cy="6582648"/>
          </a:xfrm>
          <a:scene3d>
            <a:camera prst="orthographicFront">
              <a:rot lat="0" lon="0" rev="1800000"/>
            </a:camera>
            <a:lightRig rig="threePt" dir="t"/>
          </a:scene3d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C2017E1-3A1D-902C-C16C-505999275A72}"/>
                </a:ext>
              </a:extLst>
            </p:cNvPr>
            <p:cNvGrpSpPr/>
            <p:nvPr userDrawn="1"/>
          </p:nvGrpSpPr>
          <p:grpSpPr>
            <a:xfrm>
              <a:off x="-1238250" y="2825520"/>
              <a:ext cx="14668500" cy="410394"/>
              <a:chOff x="-685800" y="2956303"/>
              <a:chExt cx="14668500" cy="410394"/>
            </a:xfrm>
          </p:grpSpPr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1BD6168-76A1-9345-A21D-8CDDBAC203BA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E0698E91-6569-1C32-3051-F4CA5336577A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A6E8F7E-7711-E49C-EDFD-EB6966BC0186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8E0A81B-5F70-0127-D3A4-F961A0B1968F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AB730AC-E727-003C-A050-4ACB7DEC111A}"/>
                </a:ext>
              </a:extLst>
            </p:cNvPr>
            <p:cNvGrpSpPr/>
            <p:nvPr userDrawn="1"/>
          </p:nvGrpSpPr>
          <p:grpSpPr>
            <a:xfrm>
              <a:off x="-1238250" y="3710392"/>
              <a:ext cx="14668500" cy="410394"/>
              <a:chOff x="-685800" y="2956303"/>
              <a:chExt cx="14668500" cy="410394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DB0C696-A6A1-88F0-D52F-DC4591799D31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FCEE19D-B93A-8CB8-FA15-29773A23265F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A36B6BF-C919-D2EB-D4E8-E06F4EAC3CDE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8DA9A06-1A78-FF36-F52D-DAE428A815AE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76D13C1-10E8-8BE3-A48D-BDBDB95A1A45}"/>
                </a:ext>
              </a:extLst>
            </p:cNvPr>
            <p:cNvGrpSpPr/>
            <p:nvPr userDrawn="1"/>
          </p:nvGrpSpPr>
          <p:grpSpPr>
            <a:xfrm>
              <a:off x="-1238250" y="4583102"/>
              <a:ext cx="14668500" cy="410394"/>
              <a:chOff x="-685800" y="2956303"/>
              <a:chExt cx="14668500" cy="410394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D7926B1-81B9-4699-4BD6-4BC12EF97306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A386981-E693-CF7F-F327-63D5248B08C2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A3139F8-C04A-E285-AB62-6435F71C8674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B959D77-E120-7A9D-15F9-5893EFD4B61C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767EDCA-229E-3C3B-107F-8CE78D2ECA7E}"/>
                </a:ext>
              </a:extLst>
            </p:cNvPr>
            <p:cNvGrpSpPr/>
            <p:nvPr userDrawn="1"/>
          </p:nvGrpSpPr>
          <p:grpSpPr>
            <a:xfrm>
              <a:off x="-1238250" y="5467974"/>
              <a:ext cx="14668500" cy="410394"/>
              <a:chOff x="-685800" y="2956303"/>
              <a:chExt cx="14668500" cy="410394"/>
            </a:xfrm>
          </p:grpSpPr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875275F-ED29-7535-E021-5D7934EA5ABA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3307DDC-4FD5-6522-D737-2844146C88CE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6DFD9E0-5DE8-4979-88C7-4005E9F58DFE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24DFF3E-7BE9-F9FB-3C34-39B25730FA66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9C9A0CE-CFD6-DB06-5531-1984A98FA536}"/>
                </a:ext>
              </a:extLst>
            </p:cNvPr>
            <p:cNvGrpSpPr/>
            <p:nvPr userDrawn="1"/>
          </p:nvGrpSpPr>
          <p:grpSpPr>
            <a:xfrm>
              <a:off x="-1238250" y="1859650"/>
              <a:ext cx="14668500" cy="410394"/>
              <a:chOff x="-685800" y="2956303"/>
              <a:chExt cx="14668500" cy="410394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E50B000-B96C-F677-615F-1F2437F59210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44EC669-AC40-38C9-C1EA-6CE71B486DDF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9FE93E0-EF1C-7D4F-2C2B-23ED60D97A8C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1B79CE7-C856-9BCE-9906-AF78C5A9521E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816FDC8-2CB8-25E0-C879-D2093EFCA79C}"/>
                </a:ext>
              </a:extLst>
            </p:cNvPr>
            <p:cNvGrpSpPr/>
            <p:nvPr userDrawn="1"/>
          </p:nvGrpSpPr>
          <p:grpSpPr>
            <a:xfrm>
              <a:off x="-1238250" y="70813"/>
              <a:ext cx="14668500" cy="410394"/>
              <a:chOff x="-685800" y="2956303"/>
              <a:chExt cx="14668500" cy="410394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B93C738-C709-6F4C-3E1C-0EBB3A44CF5F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FEFEAA3-7B0C-5905-288E-BEEF14AA1AB7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3D3BEF8-39EA-547F-3EC7-54A873B37997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A3D802E-B88D-FABB-0343-1698C4902382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7333D67-6809-4B49-BBE0-1B123DDC5178}"/>
                </a:ext>
              </a:extLst>
            </p:cNvPr>
            <p:cNvGrpSpPr/>
            <p:nvPr userDrawn="1"/>
          </p:nvGrpSpPr>
          <p:grpSpPr>
            <a:xfrm>
              <a:off x="-1238250" y="949927"/>
              <a:ext cx="14668500" cy="410394"/>
              <a:chOff x="-685800" y="2956303"/>
              <a:chExt cx="14668500" cy="410394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5E49732-E358-5B86-5096-FD7E76535580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DE5ACDD-DCCC-2156-6A76-706EF188C62E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340C5B7-F56A-26FD-A995-6DE5B32883C4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9DEDB8E-E4FA-53B5-C0C9-E05DFF8AB3CF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FC81F98-7DF4-FEC6-0AD0-C8AEC36A93B3}"/>
                </a:ext>
              </a:extLst>
            </p:cNvPr>
            <p:cNvGrpSpPr/>
            <p:nvPr userDrawn="1"/>
          </p:nvGrpSpPr>
          <p:grpSpPr>
            <a:xfrm>
              <a:off x="-1238250" y="6243067"/>
              <a:ext cx="14668500" cy="410394"/>
              <a:chOff x="-685800" y="2956303"/>
              <a:chExt cx="14668500" cy="410394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3CE4956-F121-67D7-8B43-5FF94A15E698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36BDCE2-E4E5-97FD-9FEB-DD57E92BCA7E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F86D417-9F10-187E-9708-952E0066CD13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7E78653-AC16-36CB-CAB4-517DE69F0E02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35C254D-4D60-7AAE-AA07-79975128B41C}"/>
              </a:ext>
            </a:extLst>
          </p:cNvPr>
          <p:cNvGrpSpPr/>
          <p:nvPr/>
        </p:nvGrpSpPr>
        <p:grpSpPr>
          <a:xfrm>
            <a:off x="-428506" y="6388535"/>
            <a:ext cx="4114800" cy="422069"/>
            <a:chOff x="2436266" y="6394843"/>
            <a:chExt cx="4114800" cy="422069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D6D3149C-470A-4260-ECD0-9748558573CD}"/>
                </a:ext>
              </a:extLst>
            </p:cNvPr>
            <p:cNvSpPr/>
            <p:nvPr/>
          </p:nvSpPr>
          <p:spPr>
            <a:xfrm>
              <a:off x="3440863" y="6451787"/>
              <a:ext cx="1894114" cy="365125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5" name="Footer Placeholder 4">
              <a:extLst>
                <a:ext uri="{FF2B5EF4-FFF2-40B4-BE49-F238E27FC236}">
                  <a16:creationId xmlns:a16="http://schemas.microsoft.com/office/drawing/2014/main" id="{213CD56F-AF63-DBDF-BD42-64B53754BEBB}"/>
                </a:ext>
              </a:extLst>
            </p:cNvPr>
            <p:cNvSpPr txBox="1">
              <a:spLocks/>
            </p:cNvSpPr>
            <p:nvPr/>
          </p:nvSpPr>
          <p:spPr>
            <a:xfrm>
              <a:off x="2436266" y="6394843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© 2026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</a:rPr>
                <a:t>TechnoGenesis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. All rights reserved</a:t>
              </a:r>
              <a:endParaRPr lang="en-GB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8729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9F7E3-E837-7ED0-08CD-ED6AA7B34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7C92F3-7A93-B588-F95F-F88A75739B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4762"/>
            <a:ext cx="12172950" cy="68484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998C1BB-EC49-AA66-EF50-430B7DCEE417}"/>
              </a:ext>
            </a:extLst>
          </p:cNvPr>
          <p:cNvSpPr/>
          <p:nvPr/>
        </p:nvSpPr>
        <p:spPr>
          <a:xfrm>
            <a:off x="129110" y="224134"/>
            <a:ext cx="1932771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Reading Patents -4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9DB999-9B61-DA51-0814-1BF9EB7983CC}"/>
              </a:ext>
            </a:extLst>
          </p:cNvPr>
          <p:cNvSpPr/>
          <p:nvPr/>
        </p:nvSpPr>
        <p:spPr>
          <a:xfrm>
            <a:off x="3808184" y="239247"/>
            <a:ext cx="3744359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b="1" dirty="0">
                <a:ln/>
                <a:solidFill>
                  <a:schemeClr val="accent1">
                    <a:lumMod val="75000"/>
                  </a:schemeClr>
                </a:solidFill>
              </a:rPr>
              <a:t>The S-curve &amp; Emergent technologies</a:t>
            </a:r>
            <a:endParaRPr lang="en-US" b="1" cap="none" spc="0" dirty="0">
              <a:ln/>
              <a:solidFill>
                <a:schemeClr val="accent3"/>
              </a:solidFill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4ABA54-2DC9-2831-6BB5-A598E91B9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397" y="1720926"/>
            <a:ext cx="5821145" cy="373858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9B67DE0D-279E-84C1-1478-7E54D6951691}"/>
              </a:ext>
            </a:extLst>
          </p:cNvPr>
          <p:cNvGrpSpPr/>
          <p:nvPr/>
        </p:nvGrpSpPr>
        <p:grpSpPr>
          <a:xfrm>
            <a:off x="6273427" y="1720926"/>
            <a:ext cx="5717176" cy="1448585"/>
            <a:chOff x="4117596" y="4211318"/>
            <a:chExt cx="5827058" cy="1448585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0301450-E4ED-58EF-2E87-61984603E728}"/>
                </a:ext>
              </a:extLst>
            </p:cNvPr>
            <p:cNvSpPr/>
            <p:nvPr/>
          </p:nvSpPr>
          <p:spPr>
            <a:xfrm>
              <a:off x="4117596" y="4465614"/>
              <a:ext cx="5827058" cy="1194289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8D2AB29-A631-47C9-88CF-0929BE50F3D6}"/>
                </a:ext>
              </a:extLst>
            </p:cNvPr>
            <p:cNvGrpSpPr/>
            <p:nvPr/>
          </p:nvGrpSpPr>
          <p:grpSpPr>
            <a:xfrm>
              <a:off x="4253448" y="4211318"/>
              <a:ext cx="5555353" cy="1268039"/>
              <a:chOff x="301425" y="4326135"/>
              <a:chExt cx="5851171" cy="1268039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ADED82D-6C83-564E-616D-1A5E62016322}"/>
                  </a:ext>
                </a:extLst>
              </p:cNvPr>
              <p:cNvSpPr/>
              <p:nvPr/>
            </p:nvSpPr>
            <p:spPr>
              <a:xfrm>
                <a:off x="3007063" y="4326135"/>
                <a:ext cx="194567" cy="338554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 algn="ctr"/>
                <a:endParaRPr lang="en-US" sz="1600" b="1" cap="none" spc="0" dirty="0">
                  <a:ln/>
                  <a:solidFill>
                    <a:srgbClr val="FFC000"/>
                  </a:solidFill>
                  <a:effectLst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7C42D0B-FABC-36FF-6945-A963373E6762}"/>
                  </a:ext>
                </a:extLst>
              </p:cNvPr>
              <p:cNvSpPr/>
              <p:nvPr/>
            </p:nvSpPr>
            <p:spPr>
              <a:xfrm>
                <a:off x="829813" y="4653129"/>
                <a:ext cx="4354498" cy="30777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US" sz="1400" dirty="0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THE LOGISTIC S-CURVE</a:t>
                </a:r>
                <a:endParaRPr lang="en-US" sz="14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5790C79-74DE-3058-BA3A-C1F1D1457125}"/>
                  </a:ext>
                </a:extLst>
              </p:cNvPr>
              <p:cNvSpPr txBox="1"/>
              <p:nvPr/>
            </p:nvSpPr>
            <p:spPr>
              <a:xfrm>
                <a:off x="301425" y="4987564"/>
                <a:ext cx="585117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400" dirty="0"/>
                  <a:t>• </a:t>
                </a:r>
                <a:r>
                  <a:rPr lang="fr-FR" sz="1400" b="1" dirty="0"/>
                  <a:t>Emergence -&gt; </a:t>
                </a:r>
                <a:r>
                  <a:rPr lang="fr-FR" sz="1400" dirty="0" err="1"/>
                  <a:t>steep</a:t>
                </a:r>
                <a:r>
                  <a:rPr lang="fr-FR" sz="1400" dirty="0"/>
                  <a:t> adoption (invasion) </a:t>
                </a:r>
                <a:r>
                  <a:rPr lang="fr-FR" sz="1400" b="1" dirty="0"/>
                  <a:t>-&gt; saturation </a:t>
                </a:r>
                <a:r>
                  <a:rPr lang="fr-FR" sz="1400" dirty="0"/>
                  <a:t>(consolidation)</a:t>
                </a:r>
                <a:endParaRPr lang="en-GB" sz="1400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9717675-8554-34BD-20D7-743D1E56A5B8}"/>
                  </a:ext>
                </a:extLst>
              </p:cNvPr>
              <p:cNvSpPr txBox="1"/>
              <p:nvPr/>
            </p:nvSpPr>
            <p:spPr>
              <a:xfrm>
                <a:off x="301425" y="5286397"/>
                <a:ext cx="547637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400" dirty="0"/>
                  <a:t>• </a:t>
                </a:r>
                <a:r>
                  <a:rPr lang="fr-FR" sz="1400" b="1" dirty="0"/>
                  <a:t>Natural </a:t>
                </a:r>
                <a:r>
                  <a:rPr lang="fr-FR" sz="1400" b="1" dirty="0" err="1"/>
                  <a:t>law</a:t>
                </a:r>
                <a:r>
                  <a:rPr lang="fr-FR" sz="1400" b="1" dirty="0"/>
                  <a:t>  of how </a:t>
                </a:r>
                <a:r>
                  <a:rPr lang="fr-FR" sz="1400" b="1" dirty="0" err="1"/>
                  <a:t>technology</a:t>
                </a:r>
                <a:r>
                  <a:rPr lang="fr-FR" sz="1400" b="1" dirty="0"/>
                  <a:t> spreads </a:t>
                </a:r>
                <a:r>
                  <a:rPr lang="fr-FR" sz="1400" dirty="0"/>
                  <a:t>(</a:t>
                </a:r>
                <a:r>
                  <a:rPr lang="fr-FR" sz="1400" dirty="0" err="1"/>
                  <a:t>Bejan</a:t>
                </a:r>
                <a:r>
                  <a:rPr lang="fr-FR" sz="1400" dirty="0"/>
                  <a:t> &amp; Lorent, 2011)*</a:t>
                </a:r>
                <a:endParaRPr lang="en-GB" sz="1400" dirty="0"/>
              </a:p>
            </p:txBody>
          </p:sp>
        </p:grpSp>
      </p:grp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E927975-EC08-5755-80B4-433F119761C6}"/>
              </a:ext>
            </a:extLst>
          </p:cNvPr>
          <p:cNvSpPr/>
          <p:nvPr/>
        </p:nvSpPr>
        <p:spPr>
          <a:xfrm>
            <a:off x="6273427" y="3775644"/>
            <a:ext cx="5717176" cy="110713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E2AE4E0-EE42-0A91-E3CD-AC8DCFC77785}"/>
              </a:ext>
            </a:extLst>
          </p:cNvPr>
          <p:cNvSpPr/>
          <p:nvPr/>
        </p:nvSpPr>
        <p:spPr>
          <a:xfrm>
            <a:off x="6898930" y="3775644"/>
            <a:ext cx="4056385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THE TRAP</a:t>
            </a:r>
            <a:endParaRPr lang="en-US" sz="1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FF8454-DD48-8892-1979-8967ED356F12}"/>
              </a:ext>
            </a:extLst>
          </p:cNvPr>
          <p:cNvSpPr txBox="1"/>
          <p:nvPr/>
        </p:nvSpPr>
        <p:spPr>
          <a:xfrm>
            <a:off x="6273427" y="4109546"/>
            <a:ext cx="50104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• A long flat middle can </a:t>
            </a:r>
            <a:r>
              <a:rPr lang="fr-FR" sz="1400" dirty="0" err="1"/>
              <a:t>be</a:t>
            </a:r>
            <a:r>
              <a:rPr lang="fr-FR" sz="1400" dirty="0"/>
              <a:t> a </a:t>
            </a:r>
            <a:r>
              <a:rPr lang="fr-FR" sz="1400" b="1" dirty="0"/>
              <a:t>niche-</a:t>
            </a:r>
            <a:r>
              <a:rPr lang="fr-FR" sz="1400" b="1" dirty="0" err="1"/>
              <a:t>restricted</a:t>
            </a:r>
            <a:r>
              <a:rPr lang="fr-FR" sz="1400" b="1" dirty="0"/>
              <a:t> phase</a:t>
            </a:r>
            <a:r>
              <a:rPr lang="fr-FR" sz="1400" dirty="0"/>
              <a:t>, not </a:t>
            </a:r>
            <a:r>
              <a:rPr lang="fr-FR" sz="1400" dirty="0" err="1"/>
              <a:t>maturity</a:t>
            </a:r>
            <a:r>
              <a:rPr lang="fr-FR" sz="1400" dirty="0"/>
              <a:t>.</a:t>
            </a:r>
            <a:endParaRPr lang="en-GB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ECAE7E-0C0C-A9F8-F1E7-730F57A9CF46}"/>
              </a:ext>
            </a:extLst>
          </p:cNvPr>
          <p:cNvSpPr txBox="1"/>
          <p:nvPr/>
        </p:nvSpPr>
        <p:spPr>
          <a:xfrm>
            <a:off x="6273427" y="4439682"/>
            <a:ext cx="3407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• Read </a:t>
            </a:r>
            <a:r>
              <a:rPr lang="fr-FR" sz="1400" dirty="0" err="1"/>
              <a:t>too</a:t>
            </a:r>
            <a:r>
              <a:rPr lang="fr-FR" sz="1400" dirty="0"/>
              <a:t> </a:t>
            </a:r>
            <a:r>
              <a:rPr lang="fr-FR" sz="1400" dirty="0" err="1"/>
              <a:t>early</a:t>
            </a:r>
            <a:r>
              <a:rPr lang="fr-FR" sz="1400" dirty="0"/>
              <a:t>, </a:t>
            </a:r>
            <a:r>
              <a:rPr lang="fr-FR" sz="1400" dirty="0" err="1"/>
              <a:t>can’t</a:t>
            </a:r>
            <a:r>
              <a:rPr lang="fr-FR" sz="1400" dirty="0"/>
              <a:t> </a:t>
            </a:r>
            <a:r>
              <a:rPr lang="fr-FR" sz="1400" dirty="0" err="1"/>
              <a:t>give</a:t>
            </a:r>
            <a:r>
              <a:rPr lang="fr-FR" sz="1400" dirty="0"/>
              <a:t> </a:t>
            </a:r>
            <a:r>
              <a:rPr lang="fr-FR" sz="1400" dirty="0" err="1"/>
              <a:t>safe</a:t>
            </a:r>
            <a:r>
              <a:rPr lang="fr-FR" sz="1400" dirty="0"/>
              <a:t> conclusions.</a:t>
            </a:r>
            <a:endParaRPr lang="en-GB" sz="140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0800564-8F27-18D1-5052-AB2C5A77C69C}"/>
              </a:ext>
            </a:extLst>
          </p:cNvPr>
          <p:cNvSpPr/>
          <p:nvPr/>
        </p:nvSpPr>
        <p:spPr>
          <a:xfrm>
            <a:off x="3151063" y="5562913"/>
            <a:ext cx="6244728" cy="43517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600" b="1" dirty="0">
                <a:solidFill>
                  <a:schemeClr val="tx1"/>
                </a:solidFill>
              </a:rPr>
              <a:t>An S-</a:t>
            </a:r>
            <a:r>
              <a:rPr lang="fr-FR" sz="1600" b="1" dirty="0" err="1">
                <a:solidFill>
                  <a:schemeClr val="tx1"/>
                </a:solidFill>
              </a:rPr>
              <a:t>curve</a:t>
            </a:r>
            <a:r>
              <a:rPr lang="fr-FR" sz="1600" b="1" dirty="0">
                <a:solidFill>
                  <a:schemeClr val="tx1"/>
                </a:solidFill>
              </a:rPr>
              <a:t> </a:t>
            </a:r>
            <a:r>
              <a:rPr lang="fr-FR" sz="1600" b="1" dirty="0" err="1">
                <a:solidFill>
                  <a:schemeClr val="tx1"/>
                </a:solidFill>
              </a:rPr>
              <a:t>is</a:t>
            </a:r>
            <a:r>
              <a:rPr lang="fr-FR" sz="1600" b="1" dirty="0">
                <a:solidFill>
                  <a:schemeClr val="tx1"/>
                </a:solidFill>
              </a:rPr>
              <a:t> a </a:t>
            </a:r>
            <a:r>
              <a:rPr lang="fr-FR" sz="1600" b="1" dirty="0" err="1">
                <a:solidFill>
                  <a:schemeClr val="tx1"/>
                </a:solidFill>
              </a:rPr>
              <a:t>hypothesis</a:t>
            </a:r>
            <a:r>
              <a:rPr lang="fr-FR" sz="1600" b="1" dirty="0">
                <a:solidFill>
                  <a:schemeClr val="tx1"/>
                </a:solidFill>
              </a:rPr>
              <a:t> about diffusion-not a verdict on </a:t>
            </a:r>
            <a:r>
              <a:rPr lang="fr-FR" sz="1600" b="1" dirty="0" err="1">
                <a:solidFill>
                  <a:schemeClr val="tx1"/>
                </a:solidFill>
              </a:rPr>
              <a:t>maturity</a:t>
            </a:r>
            <a:r>
              <a:rPr lang="fr-FR" sz="1600" b="1" dirty="0">
                <a:solidFill>
                  <a:schemeClr val="tx1"/>
                </a:solidFill>
              </a:rPr>
              <a:t>.</a:t>
            </a:r>
            <a:endParaRPr lang="en-GB" sz="1600" b="1" dirty="0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3C2A5D-81BA-385F-172B-0448962FFB04}"/>
              </a:ext>
            </a:extLst>
          </p:cNvPr>
          <p:cNvCxnSpPr/>
          <p:nvPr/>
        </p:nvCxnSpPr>
        <p:spPr>
          <a:xfrm flipV="1">
            <a:off x="1160251" y="4352338"/>
            <a:ext cx="2259106" cy="242047"/>
          </a:xfrm>
          <a:prstGeom prst="line">
            <a:avLst/>
          </a:prstGeom>
          <a:ln w="34925">
            <a:solidFill>
              <a:schemeClr val="accent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184B96C-FE92-1227-5BCF-24AB1A6E6E83}"/>
              </a:ext>
            </a:extLst>
          </p:cNvPr>
          <p:cNvCxnSpPr>
            <a:cxnSpLocks/>
          </p:cNvCxnSpPr>
          <p:nvPr/>
        </p:nvCxnSpPr>
        <p:spPr>
          <a:xfrm flipV="1">
            <a:off x="2938062" y="3120650"/>
            <a:ext cx="904265" cy="1252714"/>
          </a:xfrm>
          <a:prstGeom prst="line">
            <a:avLst/>
          </a:prstGeom>
          <a:ln w="34925">
            <a:solidFill>
              <a:schemeClr val="accent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4A99780-F73F-64FE-25C1-06392D479F73}"/>
              </a:ext>
            </a:extLst>
          </p:cNvPr>
          <p:cNvCxnSpPr>
            <a:cxnSpLocks/>
          </p:cNvCxnSpPr>
          <p:nvPr/>
        </p:nvCxnSpPr>
        <p:spPr>
          <a:xfrm flipV="1">
            <a:off x="3704840" y="2457759"/>
            <a:ext cx="1975524" cy="606610"/>
          </a:xfrm>
          <a:prstGeom prst="line">
            <a:avLst/>
          </a:prstGeom>
          <a:ln w="34925">
            <a:solidFill>
              <a:schemeClr val="accent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FA0E1E4-813F-669C-0A05-0CC8506A8279}"/>
              </a:ext>
            </a:extLst>
          </p:cNvPr>
          <p:cNvSpPr txBox="1"/>
          <p:nvPr/>
        </p:nvSpPr>
        <p:spPr>
          <a:xfrm>
            <a:off x="6169460" y="3207454"/>
            <a:ext cx="61531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*Bejan, A. &amp; Lorente, S. (2011), "The </a:t>
            </a:r>
            <a:r>
              <a:rPr lang="en-GB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constructal</a:t>
            </a:r>
            <a:r>
              <a:rPr lang="en-GB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law origin of the logistics S curve," </a:t>
            </a:r>
            <a:r>
              <a:rPr lang="en-GB" sz="12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Journal of Applied Physics</a:t>
            </a:r>
            <a:r>
              <a:rPr lang="en-GB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110, 024901. </a:t>
            </a:r>
            <a:endParaRPr lang="en-GB" sz="12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B6A68A6-F325-143D-D613-A207E8C2E8F9}"/>
              </a:ext>
            </a:extLst>
          </p:cNvPr>
          <p:cNvGrpSpPr/>
          <p:nvPr/>
        </p:nvGrpSpPr>
        <p:grpSpPr>
          <a:xfrm>
            <a:off x="-3592286" y="-3069771"/>
            <a:ext cx="20795726" cy="11899798"/>
            <a:chOff x="-1238250" y="70813"/>
            <a:chExt cx="14668500" cy="6582648"/>
          </a:xfrm>
          <a:scene3d>
            <a:camera prst="orthographicFront">
              <a:rot lat="0" lon="0" rev="1800000"/>
            </a:camera>
            <a:lightRig rig="threePt" dir="t"/>
          </a:scene3d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CB96F58-06A2-1FEB-4FBD-1A610F99F5AC}"/>
                </a:ext>
              </a:extLst>
            </p:cNvPr>
            <p:cNvGrpSpPr/>
            <p:nvPr userDrawn="1"/>
          </p:nvGrpSpPr>
          <p:grpSpPr>
            <a:xfrm>
              <a:off x="-1238250" y="2825520"/>
              <a:ext cx="14668500" cy="410394"/>
              <a:chOff x="-685800" y="2956303"/>
              <a:chExt cx="14668500" cy="410394"/>
            </a:xfrm>
          </p:grpSpPr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8021644-077D-B35D-E0BB-DC234BA0E623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31E2D6B-2EAF-03B5-A713-E7ED28173B05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8B441EA-43D7-6E2B-7BA0-6CA018630A3A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9D36F908-AA95-8305-D2E4-0F459C37BA3B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9A216E2-E3B6-88E8-1C35-97FBC0B7C694}"/>
                </a:ext>
              </a:extLst>
            </p:cNvPr>
            <p:cNvGrpSpPr/>
            <p:nvPr userDrawn="1"/>
          </p:nvGrpSpPr>
          <p:grpSpPr>
            <a:xfrm>
              <a:off x="-1238250" y="3710392"/>
              <a:ext cx="14668500" cy="410394"/>
              <a:chOff x="-685800" y="2956303"/>
              <a:chExt cx="14668500" cy="410394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6714E5B-62C0-0CC7-AF59-80157A52B11A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F8506DF-7841-F95B-AACA-0E9BC43EA05A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CAB51D2-0B0C-AFD2-A4EB-387797A95754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0E48808-574B-FE62-EF7B-C8C4760BCA65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7D0FABF9-425C-6B7C-E75F-E15E43F3BB2D}"/>
                </a:ext>
              </a:extLst>
            </p:cNvPr>
            <p:cNvGrpSpPr/>
            <p:nvPr userDrawn="1"/>
          </p:nvGrpSpPr>
          <p:grpSpPr>
            <a:xfrm>
              <a:off x="-1238250" y="4583102"/>
              <a:ext cx="14668500" cy="410394"/>
              <a:chOff x="-685800" y="2956303"/>
              <a:chExt cx="14668500" cy="410394"/>
            </a:xfrm>
          </p:grpSpPr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238A33D-5660-92D0-A1A8-A59D050E327C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DC6AC6E-A4A8-70DB-7CE2-D44B1592E7DC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CE85F4B-976E-08BA-DE02-3CA8EF524283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CF7D186-2945-D9C2-DDBC-52C6AB62013F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D3A9E01D-2714-3A01-9CC3-04A249BB3EE1}"/>
                </a:ext>
              </a:extLst>
            </p:cNvPr>
            <p:cNvGrpSpPr/>
            <p:nvPr userDrawn="1"/>
          </p:nvGrpSpPr>
          <p:grpSpPr>
            <a:xfrm>
              <a:off x="-1238250" y="5467974"/>
              <a:ext cx="14668500" cy="410394"/>
              <a:chOff x="-685800" y="2956303"/>
              <a:chExt cx="14668500" cy="410394"/>
            </a:xfrm>
          </p:grpSpPr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1569083-721E-148F-ECC5-BCDA07283D80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2CA7ECD-AE34-E115-147B-D925E23B69FA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717C7CB-8406-FCE7-1388-F8924798C428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C581991-CC22-CDDA-1F18-99A1F813BA79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0223AD5-4491-D9F4-399E-C1AEC42E64DC}"/>
                </a:ext>
              </a:extLst>
            </p:cNvPr>
            <p:cNvGrpSpPr/>
            <p:nvPr userDrawn="1"/>
          </p:nvGrpSpPr>
          <p:grpSpPr>
            <a:xfrm>
              <a:off x="-1238250" y="1859650"/>
              <a:ext cx="14668500" cy="410394"/>
              <a:chOff x="-685800" y="2956303"/>
              <a:chExt cx="14668500" cy="410394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0CEC2BB-B1B7-4313-ECCA-70C63BA7ADA8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83BCF2F-DBB7-E8D2-40D5-90187B3C2877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97AFA18-8521-4317-5387-070320A1FCDC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8D7CDDA-F27E-5205-7D70-46C0629F3377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3C65103D-FAB2-8B0E-857F-B78EA7785DC9}"/>
                </a:ext>
              </a:extLst>
            </p:cNvPr>
            <p:cNvGrpSpPr/>
            <p:nvPr userDrawn="1"/>
          </p:nvGrpSpPr>
          <p:grpSpPr>
            <a:xfrm>
              <a:off x="-1238250" y="70813"/>
              <a:ext cx="14668500" cy="410394"/>
              <a:chOff x="-685800" y="2956303"/>
              <a:chExt cx="14668500" cy="410394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F32FE4D-40CD-5BA4-B13F-49B0387697E4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3618AD8-1CDE-9B06-304B-E2A1BF4D637A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CD4C15B-EA66-3E69-4CAB-3D7010ABA58D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DAF9581-D139-EE22-3B21-8FA63803BABC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0DEDCD9-622D-A6AD-1EEF-B895493C8386}"/>
                </a:ext>
              </a:extLst>
            </p:cNvPr>
            <p:cNvGrpSpPr/>
            <p:nvPr userDrawn="1"/>
          </p:nvGrpSpPr>
          <p:grpSpPr>
            <a:xfrm>
              <a:off x="-1238250" y="949927"/>
              <a:ext cx="14668500" cy="410394"/>
              <a:chOff x="-685800" y="2956303"/>
              <a:chExt cx="14668500" cy="410394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4408DFD-DA81-09A3-AF95-331E5784B10E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29A7A52-5F11-C47A-D8EE-9CAA4808238A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342C0B0-83D1-1E4C-4710-44AFEF40F3E0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6013997-B635-D4E5-3DD3-E2375B72F397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24FADDF-F6FF-00AC-F395-88F06D618B77}"/>
                </a:ext>
              </a:extLst>
            </p:cNvPr>
            <p:cNvGrpSpPr/>
            <p:nvPr userDrawn="1"/>
          </p:nvGrpSpPr>
          <p:grpSpPr>
            <a:xfrm>
              <a:off x="-1238250" y="6243067"/>
              <a:ext cx="14668500" cy="410394"/>
              <a:chOff x="-685800" y="2956303"/>
              <a:chExt cx="14668500" cy="410394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C2D73A8-ECA0-0E6D-25F7-6888893405C4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C4DA614-9143-79EB-1BD2-8E9C585EA8F7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31A7396-B57A-2B76-5791-A14CC25B55BE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BEF4FE-5A57-8E89-AFC6-049772BA3831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7B6BD95-7158-3FC2-F997-E491FC408B56}"/>
              </a:ext>
            </a:extLst>
          </p:cNvPr>
          <p:cNvGrpSpPr/>
          <p:nvPr/>
        </p:nvGrpSpPr>
        <p:grpSpPr>
          <a:xfrm>
            <a:off x="-428506" y="6388535"/>
            <a:ext cx="4114800" cy="422069"/>
            <a:chOff x="2436266" y="6394843"/>
            <a:chExt cx="4114800" cy="422069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135CAA22-7857-BC68-0B06-F4E493B6D452}"/>
                </a:ext>
              </a:extLst>
            </p:cNvPr>
            <p:cNvSpPr/>
            <p:nvPr/>
          </p:nvSpPr>
          <p:spPr>
            <a:xfrm>
              <a:off x="3440863" y="6451787"/>
              <a:ext cx="1894114" cy="365125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7" name="Footer Placeholder 4">
              <a:extLst>
                <a:ext uri="{FF2B5EF4-FFF2-40B4-BE49-F238E27FC236}">
                  <a16:creationId xmlns:a16="http://schemas.microsoft.com/office/drawing/2014/main" id="{07DA0723-DC08-4D55-4C84-83F6B8489984}"/>
                </a:ext>
              </a:extLst>
            </p:cNvPr>
            <p:cNvSpPr txBox="1">
              <a:spLocks/>
            </p:cNvSpPr>
            <p:nvPr/>
          </p:nvSpPr>
          <p:spPr>
            <a:xfrm>
              <a:off x="2436266" y="6394843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© 2026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</a:rPr>
                <a:t>TechnoGenesis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. All rights reserved</a:t>
              </a:r>
              <a:endParaRPr lang="en-GB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3761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FBE02-27CF-75ED-5112-CF58498BB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5C64C2-7E7E-F2E0-0463-44656EC1A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786"/>
            <a:ext cx="12191999" cy="693957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2898C03-0A87-2D1C-35C8-BF63B69248B7}"/>
              </a:ext>
            </a:extLst>
          </p:cNvPr>
          <p:cNvSpPr/>
          <p:nvPr/>
        </p:nvSpPr>
        <p:spPr>
          <a:xfrm>
            <a:off x="295178" y="6406809"/>
            <a:ext cx="1894114" cy="365125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F38140A-0B51-93A7-63F5-370909E1C5AC}"/>
              </a:ext>
            </a:extLst>
          </p:cNvPr>
          <p:cNvGrpSpPr/>
          <p:nvPr/>
        </p:nvGrpSpPr>
        <p:grpSpPr>
          <a:xfrm>
            <a:off x="-428506" y="6388535"/>
            <a:ext cx="4114800" cy="365125"/>
            <a:chOff x="2436266" y="6394843"/>
            <a:chExt cx="4114800" cy="36512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C16080A-361F-6922-F723-1052E3B0C68C}"/>
                </a:ext>
              </a:extLst>
            </p:cNvPr>
            <p:cNvSpPr/>
            <p:nvPr/>
          </p:nvSpPr>
          <p:spPr>
            <a:xfrm>
              <a:off x="3440863" y="6451787"/>
              <a:ext cx="1894114" cy="308181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Footer Placeholder 4">
              <a:extLst>
                <a:ext uri="{FF2B5EF4-FFF2-40B4-BE49-F238E27FC236}">
                  <a16:creationId xmlns:a16="http://schemas.microsoft.com/office/drawing/2014/main" id="{1D3417D2-ABEA-A7D8-8AA2-CEFCE6BF7F29}"/>
                </a:ext>
              </a:extLst>
            </p:cNvPr>
            <p:cNvSpPr txBox="1">
              <a:spLocks/>
            </p:cNvSpPr>
            <p:nvPr/>
          </p:nvSpPr>
          <p:spPr>
            <a:xfrm>
              <a:off x="2436266" y="6394843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© 2026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</a:rPr>
                <a:t>TechnoGenesis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. All rights reserved</a:t>
              </a:r>
              <a:endParaRPr lang="en-GB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87279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ECE73-C8CD-BA4B-3544-4FA68856A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96A769-2B8A-0B16-BEEE-7F5AB2597F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9525"/>
            <a:ext cx="12172950" cy="6848475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3C34FDD6-6BC4-4965-6CF8-43EB8A4EFA65}"/>
              </a:ext>
            </a:extLst>
          </p:cNvPr>
          <p:cNvSpPr/>
          <p:nvPr/>
        </p:nvSpPr>
        <p:spPr>
          <a:xfrm>
            <a:off x="19050" y="170917"/>
            <a:ext cx="1932771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Hollow-core </a:t>
            </a:r>
            <a:r>
              <a:rPr lang="en-US" b="0" cap="none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Fibre</a:t>
            </a:r>
            <a:endParaRPr lang="en-US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E9C22B2-CBC9-C8AD-A300-906E7C154343}"/>
              </a:ext>
            </a:extLst>
          </p:cNvPr>
          <p:cNvSpPr/>
          <p:nvPr/>
        </p:nvSpPr>
        <p:spPr>
          <a:xfrm>
            <a:off x="2973333" y="169258"/>
            <a:ext cx="517911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b="1" cap="none" spc="0" dirty="0">
                <a:ln/>
                <a:solidFill>
                  <a:schemeClr val="accent1">
                    <a:lumMod val="75000"/>
                  </a:schemeClr>
                </a:solidFill>
                <a:effectLst/>
              </a:rPr>
              <a:t>Number of families per priority year &amp; top assignees</a:t>
            </a:r>
            <a:endParaRPr lang="en-US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CB879CD-0F76-EF4E-D727-3D4860303E3A}"/>
              </a:ext>
            </a:extLst>
          </p:cNvPr>
          <p:cNvSpPr/>
          <p:nvPr/>
        </p:nvSpPr>
        <p:spPr>
          <a:xfrm>
            <a:off x="557758" y="3879460"/>
            <a:ext cx="4403322" cy="18355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1CD0160-9A47-A336-AF3A-AB884762D08F}"/>
              </a:ext>
            </a:extLst>
          </p:cNvPr>
          <p:cNvSpPr/>
          <p:nvPr/>
        </p:nvSpPr>
        <p:spPr>
          <a:xfrm>
            <a:off x="6731631" y="909541"/>
            <a:ext cx="5179111" cy="158378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dirty="0">
              <a:solidFill>
                <a:schemeClr val="accent1"/>
              </a:solidFill>
            </a:endParaRPr>
          </a:p>
          <a:p>
            <a:pPr algn="ctr"/>
            <a:endParaRPr lang="fr-FR" sz="1400" b="1" dirty="0">
              <a:solidFill>
                <a:schemeClr val="accent1"/>
              </a:solidFill>
            </a:endParaRPr>
          </a:p>
          <a:p>
            <a:pPr algn="ctr"/>
            <a:endParaRPr lang="fr-FR" sz="1400" b="1" dirty="0">
              <a:solidFill>
                <a:schemeClr val="accent1"/>
              </a:solidFill>
            </a:endParaRPr>
          </a:p>
          <a:p>
            <a:pPr algn="ctr"/>
            <a:endParaRPr lang="fr-FR" sz="1400" b="1" dirty="0">
              <a:solidFill>
                <a:schemeClr val="accent1"/>
              </a:solidFill>
            </a:endParaRPr>
          </a:p>
          <a:p>
            <a:pPr algn="ctr"/>
            <a:r>
              <a:rPr lang="fr-FR" sz="1400" b="1" dirty="0">
                <a:solidFill>
                  <a:schemeClr val="accent1"/>
                </a:solidFill>
              </a:rPr>
              <a:t>ASML</a:t>
            </a:r>
            <a:r>
              <a:rPr lang="fr-FR" sz="1400" b="1" dirty="0">
                <a:solidFill>
                  <a:schemeClr val="tx1"/>
                </a:solidFill>
              </a:rPr>
              <a:t>: </a:t>
            </a:r>
            <a:r>
              <a:rPr lang="fr-FR" sz="1400" dirty="0">
                <a:solidFill>
                  <a:schemeClr val="tx1"/>
                </a:solidFill>
              </a:rPr>
              <a:t>High-power </a:t>
            </a:r>
            <a:r>
              <a:rPr lang="fr-FR" sz="1400" dirty="0" err="1">
                <a:solidFill>
                  <a:schemeClr val="tx1"/>
                </a:solidFill>
              </a:rPr>
              <a:t>beam</a:t>
            </a:r>
            <a:r>
              <a:rPr lang="fr-FR" sz="1400" dirty="0">
                <a:solidFill>
                  <a:schemeClr val="tx1"/>
                </a:solidFill>
              </a:rPr>
              <a:t> </a:t>
            </a:r>
            <a:r>
              <a:rPr lang="fr-FR" sz="1400" dirty="0" err="1">
                <a:solidFill>
                  <a:schemeClr val="tx1"/>
                </a:solidFill>
              </a:rPr>
              <a:t>delivery</a:t>
            </a:r>
            <a:endParaRPr lang="fr-FR" sz="1400" dirty="0">
              <a:solidFill>
                <a:schemeClr val="tx1"/>
              </a:solidFill>
            </a:endParaRPr>
          </a:p>
          <a:p>
            <a:pPr algn="ctr"/>
            <a:r>
              <a:rPr lang="fr-FR" sz="1400" b="1" dirty="0" err="1">
                <a:solidFill>
                  <a:schemeClr val="accent2">
                    <a:lumMod val="75000"/>
                  </a:schemeClr>
                </a:solidFill>
              </a:rPr>
              <a:t>Heraeus</a:t>
            </a:r>
            <a:r>
              <a:rPr lang="fr-FR" sz="1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FR" sz="1400" b="1" dirty="0" err="1">
                <a:solidFill>
                  <a:schemeClr val="accent2">
                    <a:lumMod val="75000"/>
                  </a:schemeClr>
                </a:solidFill>
              </a:rPr>
              <a:t>Quarzglas</a:t>
            </a:r>
            <a:r>
              <a:rPr lang="fr-FR" sz="1400" dirty="0">
                <a:solidFill>
                  <a:schemeClr val="tx1"/>
                </a:solidFill>
              </a:rPr>
              <a:t>: </a:t>
            </a:r>
            <a:r>
              <a:rPr lang="fr-FR" sz="1400" dirty="0" err="1">
                <a:solidFill>
                  <a:schemeClr val="tx1"/>
                </a:solidFill>
              </a:rPr>
              <a:t>Silica</a:t>
            </a:r>
            <a:r>
              <a:rPr lang="fr-FR" sz="1400" dirty="0">
                <a:solidFill>
                  <a:schemeClr val="tx1"/>
                </a:solidFill>
              </a:rPr>
              <a:t> performer supplier</a:t>
            </a:r>
          </a:p>
          <a:p>
            <a:pPr algn="ctr"/>
            <a:r>
              <a:rPr lang="fr-FR" sz="1400" b="1" dirty="0" err="1">
                <a:solidFill>
                  <a:srgbClr val="FFC000"/>
                </a:solidFill>
              </a:rPr>
              <a:t>University</a:t>
            </a:r>
            <a:r>
              <a:rPr lang="fr-FR" sz="1400" b="1" dirty="0">
                <a:solidFill>
                  <a:srgbClr val="FFC000"/>
                </a:solidFill>
              </a:rPr>
              <a:t> of Southampton/</a:t>
            </a:r>
            <a:r>
              <a:rPr lang="fr-FR" sz="1400" b="1" dirty="0" err="1">
                <a:solidFill>
                  <a:srgbClr val="FFC000"/>
                </a:solidFill>
              </a:rPr>
              <a:t>Luminesity</a:t>
            </a:r>
            <a:r>
              <a:rPr lang="fr-FR" sz="1400" dirty="0">
                <a:solidFill>
                  <a:schemeClr val="tx1"/>
                </a:solidFill>
              </a:rPr>
              <a:t>: Academic </a:t>
            </a:r>
            <a:r>
              <a:rPr lang="fr-FR" sz="1400" dirty="0" err="1">
                <a:solidFill>
                  <a:schemeClr val="tx1"/>
                </a:solidFill>
              </a:rPr>
              <a:t>origin</a:t>
            </a:r>
            <a:r>
              <a:rPr lang="fr-FR" sz="1400" dirty="0">
                <a:solidFill>
                  <a:schemeClr val="tx1"/>
                </a:solidFill>
              </a:rPr>
              <a:t> of NANF/DNANF</a:t>
            </a:r>
          </a:p>
          <a:p>
            <a:pPr algn="ctr"/>
            <a:r>
              <a:rPr lang="fr-FR" sz="1400" b="1" dirty="0">
                <a:solidFill>
                  <a:schemeClr val="accent6">
                    <a:lumMod val="75000"/>
                  </a:schemeClr>
                </a:solidFill>
              </a:rPr>
              <a:t>Microsoft </a:t>
            </a:r>
            <a:r>
              <a:rPr lang="fr-FR" sz="1400" b="1" dirty="0" err="1">
                <a:solidFill>
                  <a:schemeClr val="accent6">
                    <a:lumMod val="75000"/>
                  </a:schemeClr>
                </a:solidFill>
              </a:rPr>
              <a:t>Technology</a:t>
            </a:r>
            <a:r>
              <a:rPr lang="fr-FR" sz="1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1400" b="1" dirty="0" err="1">
                <a:solidFill>
                  <a:schemeClr val="accent6">
                    <a:lumMod val="75000"/>
                  </a:schemeClr>
                </a:solidFill>
              </a:rPr>
              <a:t>Licensing</a:t>
            </a:r>
            <a:r>
              <a:rPr lang="fr-FR" sz="1400" dirty="0">
                <a:solidFill>
                  <a:schemeClr val="tx1"/>
                </a:solidFill>
              </a:rPr>
              <a:t>: </a:t>
            </a:r>
            <a:r>
              <a:rPr lang="fr-FR" sz="1400" dirty="0" err="1">
                <a:solidFill>
                  <a:schemeClr val="tx1"/>
                </a:solidFill>
              </a:rPr>
              <a:t>Lumenisity</a:t>
            </a:r>
            <a:r>
              <a:rPr lang="fr-FR" sz="1400" dirty="0">
                <a:solidFill>
                  <a:schemeClr val="tx1"/>
                </a:solidFill>
              </a:rPr>
              <a:t> acquisition</a:t>
            </a:r>
          </a:p>
          <a:p>
            <a:pPr algn="ctr"/>
            <a:r>
              <a:rPr lang="fr-FR" sz="1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NKT Photonics</a:t>
            </a:r>
            <a:r>
              <a:rPr lang="fr-FR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</a:t>
            </a:r>
            <a:r>
              <a:rPr lang="fr-FR" sz="1400" dirty="0" err="1">
                <a:solidFill>
                  <a:schemeClr val="tx1"/>
                </a:solidFill>
              </a:rPr>
              <a:t>speciality</a:t>
            </a:r>
            <a:r>
              <a:rPr lang="fr-FR" sz="1400" dirty="0">
                <a:solidFill>
                  <a:schemeClr val="tx1"/>
                </a:solidFill>
              </a:rPr>
              <a:t> fibre</a:t>
            </a:r>
          </a:p>
          <a:p>
            <a:pPr algn="ctr"/>
            <a:r>
              <a:rPr lang="fr-FR" sz="1400" dirty="0">
                <a:solidFill>
                  <a:srgbClr val="FF66FF"/>
                </a:solidFill>
              </a:rPr>
              <a:t>Yangtze Optical Fibre &amp; Cable</a:t>
            </a:r>
            <a:r>
              <a:rPr lang="fr-FR" sz="1400" dirty="0">
                <a:solidFill>
                  <a:schemeClr val="tx1"/>
                </a:solidFill>
              </a:rPr>
              <a:t>: </a:t>
            </a:r>
            <a:r>
              <a:rPr lang="fr-FR" sz="1400" dirty="0" err="1">
                <a:solidFill>
                  <a:schemeClr val="tx1"/>
                </a:solidFill>
              </a:rPr>
              <a:t>China’s</a:t>
            </a:r>
            <a:r>
              <a:rPr lang="fr-FR" sz="1400" dirty="0">
                <a:solidFill>
                  <a:schemeClr val="tx1"/>
                </a:solidFill>
              </a:rPr>
              <a:t> entry</a:t>
            </a:r>
          </a:p>
          <a:p>
            <a:pPr algn="ctr"/>
            <a:endParaRPr lang="fr-FR" sz="1400" dirty="0">
              <a:solidFill>
                <a:schemeClr val="tx1"/>
              </a:solidFill>
            </a:endParaRPr>
          </a:p>
          <a:p>
            <a:pPr algn="ctr"/>
            <a:endParaRPr lang="fr-FR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B96CBC-098B-4EA9-F883-9B80DF389BC7}"/>
              </a:ext>
            </a:extLst>
          </p:cNvPr>
          <p:cNvSpPr txBox="1"/>
          <p:nvPr/>
        </p:nvSpPr>
        <p:spPr>
          <a:xfrm>
            <a:off x="695209" y="4088119"/>
            <a:ext cx="398942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• </a:t>
            </a:r>
            <a:r>
              <a:rPr lang="fr-FR" sz="1400" b="1" dirty="0"/>
              <a:t>Not one S-</a:t>
            </a:r>
            <a:r>
              <a:rPr lang="fr-FR" sz="1400" b="1" dirty="0" err="1"/>
              <a:t>curve</a:t>
            </a:r>
            <a:r>
              <a:rPr lang="fr-FR" sz="1400" b="1" dirty="0"/>
              <a:t> but </a:t>
            </a:r>
            <a:r>
              <a:rPr lang="fr-FR" sz="1400" b="1" dirty="0" err="1"/>
              <a:t>two</a:t>
            </a:r>
            <a:r>
              <a:rPr lang="fr-FR" sz="1400" b="1" dirty="0"/>
              <a:t> </a:t>
            </a:r>
            <a:r>
              <a:rPr lang="fr-FR" sz="1400" b="1" dirty="0" err="1"/>
              <a:t>waves</a:t>
            </a:r>
            <a:r>
              <a:rPr lang="fr-FR" sz="1400" b="1" dirty="0"/>
              <a:t>: </a:t>
            </a:r>
            <a:r>
              <a:rPr lang="fr-FR" sz="1400" dirty="0"/>
              <a:t>– Family as a unit, plot versus </a:t>
            </a:r>
            <a:r>
              <a:rPr lang="fr-FR" sz="1400" dirty="0" err="1"/>
              <a:t>priority</a:t>
            </a:r>
            <a:r>
              <a:rPr lang="fr-FR" sz="1400" dirty="0"/>
              <a:t> </a:t>
            </a:r>
            <a:r>
              <a:rPr lang="fr-FR" sz="1400" dirty="0" err="1"/>
              <a:t>year</a:t>
            </a:r>
            <a:r>
              <a:rPr lang="fr-FR" sz="1400" dirty="0"/>
              <a:t> -&gt; 2000-2004 (</a:t>
            </a:r>
            <a:r>
              <a:rPr lang="fr-FR" sz="1400" dirty="0" err="1"/>
              <a:t>Photonic</a:t>
            </a:r>
            <a:r>
              <a:rPr lang="fr-FR" sz="1400" dirty="0"/>
              <a:t> </a:t>
            </a:r>
            <a:r>
              <a:rPr lang="fr-FR" sz="1400" dirty="0" err="1"/>
              <a:t>bandgap</a:t>
            </a:r>
            <a:r>
              <a:rPr lang="fr-FR" sz="1400" dirty="0"/>
              <a:t> </a:t>
            </a:r>
            <a:r>
              <a:rPr lang="fr-FR" sz="1400" dirty="0" err="1"/>
              <a:t>era</a:t>
            </a:r>
            <a:r>
              <a:rPr lang="fr-FR" sz="1400" dirty="0"/>
              <a:t>), long plateau </a:t>
            </a:r>
            <a:r>
              <a:rPr lang="fr-FR" sz="1400" dirty="0" err="1"/>
              <a:t>until</a:t>
            </a:r>
            <a:r>
              <a:rPr lang="fr-FR" sz="1400" dirty="0"/>
              <a:t> 2013 (niche phase), 2014 </a:t>
            </a:r>
            <a:r>
              <a:rPr lang="fr-FR" sz="1400" dirty="0" err="1"/>
              <a:t>pulled</a:t>
            </a:r>
            <a:r>
              <a:rPr lang="fr-FR" sz="1400" dirty="0"/>
              <a:t> by AI data-centre </a:t>
            </a:r>
            <a:r>
              <a:rPr lang="fr-FR" sz="1400" dirty="0" err="1"/>
              <a:t>latency</a:t>
            </a:r>
            <a:r>
              <a:rPr lang="fr-FR" sz="1400" dirty="0"/>
              <a:t>.</a:t>
            </a:r>
          </a:p>
          <a:p>
            <a:r>
              <a:rPr lang="fr-FR" sz="1400" dirty="0"/>
              <a:t>• </a:t>
            </a:r>
            <a:r>
              <a:rPr lang="fr-FR" sz="1400" b="1" dirty="0"/>
              <a:t>No plateau </a:t>
            </a:r>
            <a:r>
              <a:rPr lang="fr-FR" sz="1400" b="1" dirty="0" err="1"/>
              <a:t>reached</a:t>
            </a:r>
            <a:r>
              <a:rPr lang="fr-FR" sz="1400" b="1" dirty="0"/>
              <a:t> </a:t>
            </a:r>
            <a:r>
              <a:rPr lang="fr-FR" sz="1400" b="1" dirty="0" err="1"/>
              <a:t>until</a:t>
            </a:r>
            <a:r>
              <a:rPr lang="fr-FR" sz="1400" b="1" dirty="0"/>
              <a:t> </a:t>
            </a:r>
            <a:r>
              <a:rPr lang="fr-FR" sz="1400" b="1" dirty="0" err="1"/>
              <a:t>now</a:t>
            </a:r>
            <a:r>
              <a:rPr lang="fr-FR" sz="1400" b="1" dirty="0"/>
              <a:t>: </a:t>
            </a:r>
            <a:r>
              <a:rPr lang="fr-FR" sz="1400" dirty="0"/>
              <a:t>– The </a:t>
            </a:r>
            <a:r>
              <a:rPr lang="fr-FR" sz="1400" dirty="0" err="1"/>
              <a:t>domain</a:t>
            </a:r>
            <a:r>
              <a:rPr lang="fr-FR" sz="1400" dirty="0"/>
              <a:t> </a:t>
            </a:r>
            <a:r>
              <a:rPr lang="fr-FR" sz="1400" dirty="0" err="1"/>
              <a:t>is</a:t>
            </a:r>
            <a:r>
              <a:rPr lang="fr-FR" sz="1400" dirty="0"/>
              <a:t> </a:t>
            </a:r>
            <a:r>
              <a:rPr lang="fr-FR" sz="1400" dirty="0" err="1"/>
              <a:t>still</a:t>
            </a:r>
            <a:r>
              <a:rPr lang="fr-FR" sz="1400" dirty="0"/>
              <a:t> open and white </a:t>
            </a:r>
            <a:r>
              <a:rPr lang="fr-FR" sz="1400" dirty="0" err="1"/>
              <a:t>spaces</a:t>
            </a:r>
            <a:r>
              <a:rPr lang="fr-FR" sz="1400" dirty="0"/>
              <a:t> </a:t>
            </a:r>
            <a:r>
              <a:rPr lang="fr-FR" sz="1400" dirty="0" err="1"/>
              <a:t>remains</a:t>
            </a:r>
            <a:r>
              <a:rPr lang="fr-FR" sz="1400" dirty="0"/>
              <a:t> (</a:t>
            </a:r>
            <a:r>
              <a:rPr lang="fr-FR" sz="1400" dirty="0" err="1"/>
              <a:t>manufacturing</a:t>
            </a:r>
            <a:r>
              <a:rPr lang="fr-FR" sz="1400" dirty="0"/>
              <a:t>, </a:t>
            </a:r>
            <a:r>
              <a:rPr lang="fr-FR" sz="1400" dirty="0" err="1"/>
              <a:t>splicing</a:t>
            </a:r>
            <a:r>
              <a:rPr lang="fr-FR" sz="1400" dirty="0"/>
              <a:t> and </a:t>
            </a:r>
            <a:r>
              <a:rPr lang="fr-FR" sz="1400" dirty="0" err="1"/>
              <a:t>cabling</a:t>
            </a:r>
            <a:r>
              <a:rPr lang="fr-FR" sz="1400" dirty="0"/>
              <a:t> process).</a:t>
            </a:r>
          </a:p>
          <a:p>
            <a:r>
              <a:rPr lang="fr-FR" sz="1400" dirty="0"/>
              <a:t> </a:t>
            </a:r>
            <a:endParaRPr lang="en-GB" sz="14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6898C69-2A21-F3EE-33EC-0E46878EC938}"/>
              </a:ext>
            </a:extLst>
          </p:cNvPr>
          <p:cNvGrpSpPr/>
          <p:nvPr/>
        </p:nvGrpSpPr>
        <p:grpSpPr>
          <a:xfrm>
            <a:off x="19050" y="656376"/>
            <a:ext cx="6011052" cy="3044953"/>
            <a:chOff x="19050" y="656376"/>
            <a:chExt cx="6011052" cy="304495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48C4F86-3445-D1BF-61D6-8EAD01F1F46E}"/>
                </a:ext>
              </a:extLst>
            </p:cNvPr>
            <p:cNvSpPr/>
            <p:nvPr/>
          </p:nvSpPr>
          <p:spPr>
            <a:xfrm>
              <a:off x="2096655" y="2576945"/>
              <a:ext cx="3380509" cy="1570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D796306-5063-743D-3A03-FECF1EDE3339}"/>
                </a:ext>
              </a:extLst>
            </p:cNvPr>
            <p:cNvGrpSpPr/>
            <p:nvPr/>
          </p:nvGrpSpPr>
          <p:grpSpPr>
            <a:xfrm>
              <a:off x="19050" y="656376"/>
              <a:ext cx="6011052" cy="3044953"/>
              <a:chOff x="9525" y="2501566"/>
              <a:chExt cx="7523150" cy="3701789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9F29934F-592F-D4B6-A189-E9283CFDDF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25" y="2576945"/>
                <a:ext cx="7523150" cy="3626410"/>
              </a:xfrm>
              <a:prstGeom prst="rect">
                <a:avLst/>
              </a:prstGeom>
            </p:spPr>
          </p:pic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FBCF015-77D1-7522-9F5D-FB934387361C}"/>
                  </a:ext>
                </a:extLst>
              </p:cNvPr>
              <p:cNvSpPr/>
              <p:nvPr/>
            </p:nvSpPr>
            <p:spPr>
              <a:xfrm>
                <a:off x="6947916" y="2964873"/>
                <a:ext cx="478121" cy="280362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96D8EFE-5D23-0B1E-8B22-3BEC33B49C24}"/>
                  </a:ext>
                </a:extLst>
              </p:cNvPr>
              <p:cNvSpPr/>
              <p:nvPr/>
            </p:nvSpPr>
            <p:spPr>
              <a:xfrm>
                <a:off x="2096655" y="2576945"/>
                <a:ext cx="3380509" cy="1570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7F64805-104E-D688-A385-F9B84B454A00}"/>
                  </a:ext>
                </a:extLst>
              </p:cNvPr>
              <p:cNvSpPr txBox="1"/>
              <p:nvPr/>
            </p:nvSpPr>
            <p:spPr>
              <a:xfrm>
                <a:off x="509783" y="2501566"/>
                <a:ext cx="568495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400" dirty="0" err="1"/>
                  <a:t>Number</a:t>
                </a:r>
                <a:r>
                  <a:rPr lang="fr-FR" sz="1400" dirty="0"/>
                  <a:t> of </a:t>
                </a:r>
                <a:r>
                  <a:rPr lang="fr-FR" sz="1400" dirty="0" err="1"/>
                  <a:t>priority</a:t>
                </a:r>
                <a:r>
                  <a:rPr lang="fr-FR" sz="1400" dirty="0"/>
                  <a:t> application per </a:t>
                </a:r>
                <a:r>
                  <a:rPr lang="fr-FR" sz="1400" dirty="0" err="1"/>
                  <a:t>priority</a:t>
                </a:r>
                <a:r>
                  <a:rPr lang="fr-FR" sz="1400" dirty="0"/>
                  <a:t> </a:t>
                </a:r>
                <a:r>
                  <a:rPr lang="fr-FR" sz="1400" dirty="0" err="1"/>
                  <a:t>year</a:t>
                </a:r>
                <a:r>
                  <a:rPr lang="fr-FR" sz="1400" dirty="0"/>
                  <a:t> for the </a:t>
                </a:r>
                <a:r>
                  <a:rPr lang="fr-FR" sz="1400" dirty="0" err="1"/>
                  <a:t>period</a:t>
                </a:r>
                <a:r>
                  <a:rPr lang="fr-FR" sz="1400" dirty="0"/>
                  <a:t> 1994 to 2026</a:t>
                </a:r>
                <a:endParaRPr lang="en-GB" sz="1400" dirty="0"/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8B0D74C-660D-FA35-1FE0-3FA1AB1A895D}"/>
                </a:ext>
              </a:extLst>
            </p:cNvPr>
            <p:cNvSpPr txBox="1"/>
            <p:nvPr/>
          </p:nvSpPr>
          <p:spPr>
            <a:xfrm>
              <a:off x="630949" y="1812727"/>
              <a:ext cx="255871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dirty="0"/>
                <a:t>© </a:t>
              </a:r>
              <a:r>
                <a:rPr lang="fr-FR" sz="1000" dirty="0" err="1"/>
                <a:t>TechnoGenesis</a:t>
              </a:r>
              <a:r>
                <a:rPr lang="fr-FR" sz="1000" dirty="0"/>
                <a:t> – </a:t>
              </a:r>
              <a:r>
                <a:rPr lang="fr-FR" sz="1000" dirty="0" err="1"/>
                <a:t>Minesoft</a:t>
              </a:r>
              <a:r>
                <a:rPr lang="fr-FR" sz="1000" dirty="0"/>
                <a:t> Origin July 2026</a:t>
              </a:r>
              <a:endParaRPr lang="en-GB" sz="10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F433824-C74B-2840-24B3-7D6062955CA6}"/>
                </a:ext>
              </a:extLst>
            </p:cNvPr>
            <p:cNvSpPr txBox="1"/>
            <p:nvPr/>
          </p:nvSpPr>
          <p:spPr>
            <a:xfrm>
              <a:off x="1037609" y="3343636"/>
              <a:ext cx="4988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2000</a:t>
              </a:r>
              <a:endParaRPr lang="en-GB" sz="12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5914E73-C21E-B9E4-9F47-E1010AF6AD58}"/>
                </a:ext>
              </a:extLst>
            </p:cNvPr>
            <p:cNvSpPr txBox="1"/>
            <p:nvPr/>
          </p:nvSpPr>
          <p:spPr>
            <a:xfrm>
              <a:off x="164367" y="3355033"/>
              <a:ext cx="4988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1995</a:t>
              </a:r>
              <a:endParaRPr lang="en-GB" sz="12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0A3844D-319A-EEFA-2103-55A9E231C9CF}"/>
                </a:ext>
              </a:extLst>
            </p:cNvPr>
            <p:cNvSpPr txBox="1"/>
            <p:nvPr/>
          </p:nvSpPr>
          <p:spPr>
            <a:xfrm>
              <a:off x="1754075" y="3343635"/>
              <a:ext cx="4988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2004</a:t>
              </a:r>
              <a:endParaRPr lang="en-GB" sz="12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6AABB72-D707-B7B2-0A43-46007EF7DDC9}"/>
                </a:ext>
              </a:extLst>
            </p:cNvPr>
            <p:cNvSpPr txBox="1"/>
            <p:nvPr/>
          </p:nvSpPr>
          <p:spPr>
            <a:xfrm>
              <a:off x="2440491" y="3343634"/>
              <a:ext cx="4988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2008</a:t>
              </a:r>
              <a:endParaRPr lang="en-GB" sz="12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AE056B1-BCFB-3ED4-FAFA-1395D5218FC0}"/>
                </a:ext>
              </a:extLst>
            </p:cNvPr>
            <p:cNvSpPr txBox="1"/>
            <p:nvPr/>
          </p:nvSpPr>
          <p:spPr>
            <a:xfrm>
              <a:off x="3150739" y="3336189"/>
              <a:ext cx="4988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2012</a:t>
              </a:r>
              <a:endParaRPr lang="en-GB" sz="12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E13C4A0-885D-8526-8150-26D46D670094}"/>
                </a:ext>
              </a:extLst>
            </p:cNvPr>
            <p:cNvSpPr txBox="1"/>
            <p:nvPr/>
          </p:nvSpPr>
          <p:spPr>
            <a:xfrm>
              <a:off x="3880172" y="3343633"/>
              <a:ext cx="4988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2016</a:t>
              </a:r>
              <a:endParaRPr lang="en-GB" sz="12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54D2543-3762-C30C-B79D-9BCAA573BFAC}"/>
                </a:ext>
              </a:extLst>
            </p:cNvPr>
            <p:cNvSpPr txBox="1"/>
            <p:nvPr/>
          </p:nvSpPr>
          <p:spPr>
            <a:xfrm>
              <a:off x="4585596" y="3345146"/>
              <a:ext cx="4988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2020</a:t>
              </a:r>
              <a:endParaRPr lang="en-GB" sz="12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8D4F2B1-2F07-2CD5-D961-3EB8FA9E0947}"/>
                </a:ext>
              </a:extLst>
            </p:cNvPr>
            <p:cNvSpPr txBox="1"/>
            <p:nvPr/>
          </p:nvSpPr>
          <p:spPr>
            <a:xfrm>
              <a:off x="5302062" y="3336188"/>
              <a:ext cx="4988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2024</a:t>
              </a:r>
              <a:endParaRPr lang="en-GB" sz="120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F68F872-265F-4DB2-B676-0F0B524F21AE}"/>
              </a:ext>
            </a:extLst>
          </p:cNvPr>
          <p:cNvGrpSpPr/>
          <p:nvPr/>
        </p:nvGrpSpPr>
        <p:grpSpPr>
          <a:xfrm>
            <a:off x="6075247" y="2733963"/>
            <a:ext cx="6131139" cy="3143343"/>
            <a:chOff x="6075247" y="2733963"/>
            <a:chExt cx="6131139" cy="314334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81BBF56-F811-EAFE-D395-B6A9640C8AA1}"/>
                </a:ext>
              </a:extLst>
            </p:cNvPr>
            <p:cNvGrpSpPr/>
            <p:nvPr/>
          </p:nvGrpSpPr>
          <p:grpSpPr>
            <a:xfrm>
              <a:off x="6075247" y="2733963"/>
              <a:ext cx="6131139" cy="3143343"/>
              <a:chOff x="4142182" y="529458"/>
              <a:chExt cx="6752188" cy="3413079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FDDEE71D-B7B3-2370-626D-EB91BA6DE88A}"/>
                  </a:ext>
                </a:extLst>
              </p:cNvPr>
              <p:cNvGrpSpPr/>
              <p:nvPr/>
            </p:nvGrpSpPr>
            <p:grpSpPr>
              <a:xfrm>
                <a:off x="4142182" y="529458"/>
                <a:ext cx="6752188" cy="3413079"/>
                <a:chOff x="4142182" y="529458"/>
                <a:chExt cx="6752188" cy="3413079"/>
              </a:xfrm>
            </p:grpSpPr>
            <p:pic>
              <p:nvPicPr>
                <p:cNvPr id="25" name="Picture 24">
                  <a:extLst>
                    <a:ext uri="{FF2B5EF4-FFF2-40B4-BE49-F238E27FC236}">
                      <a16:creationId xmlns:a16="http://schemas.microsoft.com/office/drawing/2014/main" id="{DB1F66D7-7A4C-F169-F5AC-FD95D916B6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42182" y="625215"/>
                  <a:ext cx="6752188" cy="3317322"/>
                </a:xfrm>
                <a:prstGeom prst="rect">
                  <a:avLst/>
                </a:prstGeom>
              </p:spPr>
            </p:pic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D6DF9178-2602-BE9B-593A-73BC125EA0D7}"/>
                    </a:ext>
                  </a:extLst>
                </p:cNvPr>
                <p:cNvSpPr/>
                <p:nvPr/>
              </p:nvSpPr>
              <p:spPr>
                <a:xfrm>
                  <a:off x="6096000" y="662227"/>
                  <a:ext cx="2784585" cy="1021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7198B5DC-E8E4-3F31-57C0-3AB0F69FFD3B}"/>
                    </a:ext>
                  </a:extLst>
                </p:cNvPr>
                <p:cNvSpPr txBox="1"/>
                <p:nvPr/>
              </p:nvSpPr>
              <p:spPr>
                <a:xfrm>
                  <a:off x="6021902" y="529458"/>
                  <a:ext cx="339003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400" dirty="0"/>
                    <a:t>Top 6 </a:t>
                  </a:r>
                  <a:r>
                    <a:rPr lang="fr-FR" sz="1400" dirty="0" err="1"/>
                    <a:t>Assignees</a:t>
                  </a:r>
                  <a:r>
                    <a:rPr lang="fr-FR" sz="1400" dirty="0"/>
                    <a:t> for the </a:t>
                  </a:r>
                  <a:r>
                    <a:rPr lang="fr-FR" sz="1400" dirty="0" err="1"/>
                    <a:t>period</a:t>
                  </a:r>
                  <a:r>
                    <a:rPr lang="fr-FR" sz="1400" dirty="0"/>
                    <a:t> 2015 to 2026</a:t>
                  </a:r>
                  <a:endParaRPr lang="en-GB" sz="1400" dirty="0"/>
                </a:p>
              </p:txBody>
            </p:sp>
          </p:grp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74CEF505-087B-CEEE-D982-922F441BA834}"/>
                  </a:ext>
                </a:extLst>
              </p:cNvPr>
              <p:cNvSpPr/>
              <p:nvPr/>
            </p:nvSpPr>
            <p:spPr>
              <a:xfrm>
                <a:off x="9688948" y="888009"/>
                <a:ext cx="935101" cy="265318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7A990EA-9B56-7789-8B62-C34D0CC7C04F}"/>
                </a:ext>
              </a:extLst>
            </p:cNvPr>
            <p:cNvSpPr txBox="1"/>
            <p:nvPr/>
          </p:nvSpPr>
          <p:spPr>
            <a:xfrm>
              <a:off x="6325167" y="3660584"/>
              <a:ext cx="255871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dirty="0"/>
                <a:t>© </a:t>
              </a:r>
              <a:r>
                <a:rPr lang="fr-FR" sz="1000" dirty="0" err="1"/>
                <a:t>TechnoGenesis</a:t>
              </a:r>
              <a:r>
                <a:rPr lang="fr-FR" sz="1000" dirty="0"/>
                <a:t> – </a:t>
              </a:r>
              <a:r>
                <a:rPr lang="fr-FR" sz="1000" dirty="0" err="1"/>
                <a:t>Minesoft</a:t>
              </a:r>
              <a:r>
                <a:rPr lang="fr-FR" sz="1000" dirty="0"/>
                <a:t> Origin July 2026</a:t>
              </a:r>
              <a:endParaRPr lang="en-GB" sz="1000" dirty="0"/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C6B1A89-BE33-DCBD-70CB-7438F815781C}"/>
                </a:ext>
              </a:extLst>
            </p:cNvPr>
            <p:cNvGrpSpPr/>
            <p:nvPr/>
          </p:nvGrpSpPr>
          <p:grpSpPr>
            <a:xfrm>
              <a:off x="6332531" y="5507683"/>
              <a:ext cx="4743037" cy="276999"/>
              <a:chOff x="6332531" y="5507683"/>
              <a:chExt cx="4743037" cy="276999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951B2D5-3C79-8894-5F6C-ECC4DE2AAAA6}"/>
                  </a:ext>
                </a:extLst>
              </p:cNvPr>
              <p:cNvSpPr txBox="1"/>
              <p:nvPr/>
            </p:nvSpPr>
            <p:spPr>
              <a:xfrm>
                <a:off x="6332531" y="5507683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/>
                  <a:t>2016</a:t>
                </a:r>
                <a:endParaRPr lang="en-GB" sz="1200" dirty="0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F3380F2-27CE-6BFC-BE35-329670104A5E}"/>
                  </a:ext>
                </a:extLst>
              </p:cNvPr>
              <p:cNvSpPr txBox="1"/>
              <p:nvPr/>
            </p:nvSpPr>
            <p:spPr>
              <a:xfrm>
                <a:off x="8465337" y="5507683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/>
                  <a:t>2020</a:t>
                </a:r>
                <a:endParaRPr lang="en-GB" sz="1200" dirty="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2CB0A9D-6E9D-AEE1-7620-25D037170C54}"/>
                  </a:ext>
                </a:extLst>
              </p:cNvPr>
              <p:cNvSpPr txBox="1"/>
              <p:nvPr/>
            </p:nvSpPr>
            <p:spPr>
              <a:xfrm>
                <a:off x="10576713" y="5507683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/>
                  <a:t>2024</a:t>
                </a:r>
                <a:endParaRPr lang="en-GB" sz="1200" dirty="0"/>
              </a:p>
            </p:txBody>
          </p:sp>
        </p:grp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7D468936-6719-4FF6-BB46-E90A31C5ACF5}"/>
              </a:ext>
            </a:extLst>
          </p:cNvPr>
          <p:cNvGrpSpPr/>
          <p:nvPr/>
        </p:nvGrpSpPr>
        <p:grpSpPr>
          <a:xfrm>
            <a:off x="-3592286" y="-3069771"/>
            <a:ext cx="20795726" cy="11899798"/>
            <a:chOff x="-1238250" y="70813"/>
            <a:chExt cx="14668500" cy="6582648"/>
          </a:xfrm>
          <a:scene3d>
            <a:camera prst="orthographicFront">
              <a:rot lat="0" lon="0" rev="1800000"/>
            </a:camera>
            <a:lightRig rig="threePt" dir="t"/>
          </a:scene3d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D5650819-319A-31BF-B8BD-F5E12016D1F1}"/>
                </a:ext>
              </a:extLst>
            </p:cNvPr>
            <p:cNvGrpSpPr/>
            <p:nvPr userDrawn="1"/>
          </p:nvGrpSpPr>
          <p:grpSpPr>
            <a:xfrm>
              <a:off x="-1238250" y="2825520"/>
              <a:ext cx="14668500" cy="410394"/>
              <a:chOff x="-685800" y="2956303"/>
              <a:chExt cx="14668500" cy="410394"/>
            </a:xfrm>
          </p:grpSpPr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B9BBC8EE-E5FB-E4D3-FFCB-7F546700C4D1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26915E9A-676A-8215-0E2A-452E68BB0FCB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77889959-7A41-534C-0985-B1307AD85CA2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55AB8678-2443-063C-4120-40A1F47C569F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09DCA41-3E56-0C65-3916-DC87F5B0C02F}"/>
                </a:ext>
              </a:extLst>
            </p:cNvPr>
            <p:cNvGrpSpPr/>
            <p:nvPr userDrawn="1"/>
          </p:nvGrpSpPr>
          <p:grpSpPr>
            <a:xfrm>
              <a:off x="-1238250" y="3710392"/>
              <a:ext cx="14668500" cy="410394"/>
              <a:chOff x="-685800" y="2956303"/>
              <a:chExt cx="14668500" cy="410394"/>
            </a:xfrm>
          </p:grpSpPr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579BF34B-F797-997C-AC9A-721B46661952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A09C4126-2FCD-C5AA-B5D7-8AB6537F0697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FA17166F-F66B-ADB1-5D26-3063F99F916D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80658344-CFC4-7F8E-F40E-7B283592E96A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80FB7A81-FAD3-E7F1-32E9-F3515D1D4D41}"/>
                </a:ext>
              </a:extLst>
            </p:cNvPr>
            <p:cNvGrpSpPr/>
            <p:nvPr userDrawn="1"/>
          </p:nvGrpSpPr>
          <p:grpSpPr>
            <a:xfrm>
              <a:off x="-1238250" y="4583102"/>
              <a:ext cx="14668500" cy="410394"/>
              <a:chOff x="-685800" y="2956303"/>
              <a:chExt cx="14668500" cy="410394"/>
            </a:xfrm>
          </p:grpSpPr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3485AF97-2566-14E6-2E6D-601F11FD6CC6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678D157B-4170-C02E-A6A9-32B5CF31BFE3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4F25C97B-8A6E-E8D8-CBC2-5F62FD1A3618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7E988648-4FA9-A75D-135E-491D4236BB91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98395235-58A5-88E4-750E-D25FA88C2A99}"/>
                </a:ext>
              </a:extLst>
            </p:cNvPr>
            <p:cNvGrpSpPr/>
            <p:nvPr userDrawn="1"/>
          </p:nvGrpSpPr>
          <p:grpSpPr>
            <a:xfrm>
              <a:off x="-1238250" y="5467974"/>
              <a:ext cx="14668500" cy="410394"/>
              <a:chOff x="-685800" y="2956303"/>
              <a:chExt cx="14668500" cy="410394"/>
            </a:xfrm>
          </p:grpSpPr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4C47D340-D3A2-B4D0-A3A8-92E1B65C4F55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F565DC64-1361-B8ED-89DD-8946E8399AAD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989771C1-F8F0-9409-2F45-C5E407848FC3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E1D4D76-CAB3-EABA-EC3F-82B07260775F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3C9B5ED5-11E5-35BA-49FC-8BA29F050F32}"/>
                </a:ext>
              </a:extLst>
            </p:cNvPr>
            <p:cNvGrpSpPr/>
            <p:nvPr userDrawn="1"/>
          </p:nvGrpSpPr>
          <p:grpSpPr>
            <a:xfrm>
              <a:off x="-1238250" y="1859650"/>
              <a:ext cx="14668500" cy="410394"/>
              <a:chOff x="-685800" y="2956303"/>
              <a:chExt cx="14668500" cy="410394"/>
            </a:xfrm>
          </p:grpSpPr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6FC0EF86-3FFA-5BFE-5AEA-DED8A0A400FF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28EB8E29-0E76-D4C5-E390-C560DF48B090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BCC004D9-0052-45DD-9CD2-48DD95FABB55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942A076F-26DA-6349-0690-22559B694094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DD2B6AE6-7D62-7336-8C51-09A188389EF1}"/>
                </a:ext>
              </a:extLst>
            </p:cNvPr>
            <p:cNvGrpSpPr/>
            <p:nvPr userDrawn="1"/>
          </p:nvGrpSpPr>
          <p:grpSpPr>
            <a:xfrm>
              <a:off x="-1238250" y="70813"/>
              <a:ext cx="14668500" cy="410394"/>
              <a:chOff x="-685800" y="2956303"/>
              <a:chExt cx="14668500" cy="410394"/>
            </a:xfrm>
          </p:grpSpPr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EC2E1593-1635-5C99-672B-9E468D3E9A6B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453D6C6A-0104-BE69-0878-107E773DC7D8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D48422F8-F188-F058-513A-54D048244120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43180DCA-C0E0-9552-513A-DB0FA3A74EA1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1E7AD228-E2FF-9C11-8DFC-E4764CFA8B70}"/>
                </a:ext>
              </a:extLst>
            </p:cNvPr>
            <p:cNvGrpSpPr/>
            <p:nvPr userDrawn="1"/>
          </p:nvGrpSpPr>
          <p:grpSpPr>
            <a:xfrm>
              <a:off x="-1238250" y="949927"/>
              <a:ext cx="14668500" cy="410394"/>
              <a:chOff x="-685800" y="2956303"/>
              <a:chExt cx="14668500" cy="410394"/>
            </a:xfrm>
          </p:grpSpPr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915D64F0-3EE8-5C04-3AA8-55FE3069BF94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956FEAB-9804-9BEA-F58A-9A6D9D7DC399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B01E1D4C-CEA1-32B3-4007-8E0C3B86117B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91E8DE1B-77D1-A8D5-6A7A-FDDCF98487CC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1ED38DE3-4013-6535-C6AF-C27325521594}"/>
                </a:ext>
              </a:extLst>
            </p:cNvPr>
            <p:cNvGrpSpPr/>
            <p:nvPr userDrawn="1"/>
          </p:nvGrpSpPr>
          <p:grpSpPr>
            <a:xfrm>
              <a:off x="-1238250" y="6243067"/>
              <a:ext cx="14668500" cy="410394"/>
              <a:chOff x="-685800" y="2956303"/>
              <a:chExt cx="14668500" cy="410394"/>
            </a:xfrm>
          </p:grpSpPr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3D7DEDAC-529C-6640-B3E2-F64550C7555D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040CCB4C-B05C-7C08-AC40-4E7B21E4955D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C67580FE-CEBE-868A-E463-769A661EFFF8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7DF6B50-D58E-B9B8-404E-0E53A059B71C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8DB2D3C-498D-CA26-4F11-49E98347BC84}"/>
              </a:ext>
            </a:extLst>
          </p:cNvPr>
          <p:cNvGrpSpPr/>
          <p:nvPr/>
        </p:nvGrpSpPr>
        <p:grpSpPr>
          <a:xfrm>
            <a:off x="-428506" y="6388535"/>
            <a:ext cx="4114800" cy="422069"/>
            <a:chOff x="2436266" y="6394843"/>
            <a:chExt cx="4114800" cy="422069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DB0D6AE-DDB6-B48F-6704-1AF36157FCA9}"/>
                </a:ext>
              </a:extLst>
            </p:cNvPr>
            <p:cNvSpPr/>
            <p:nvPr/>
          </p:nvSpPr>
          <p:spPr>
            <a:xfrm>
              <a:off x="3440863" y="6451787"/>
              <a:ext cx="1894114" cy="365125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Footer Placeholder 4">
              <a:extLst>
                <a:ext uri="{FF2B5EF4-FFF2-40B4-BE49-F238E27FC236}">
                  <a16:creationId xmlns:a16="http://schemas.microsoft.com/office/drawing/2014/main" id="{35F9FEEE-2B41-A436-13A4-7D1CE867D902}"/>
                </a:ext>
              </a:extLst>
            </p:cNvPr>
            <p:cNvSpPr txBox="1">
              <a:spLocks/>
            </p:cNvSpPr>
            <p:nvPr/>
          </p:nvSpPr>
          <p:spPr>
            <a:xfrm>
              <a:off x="2436266" y="6394843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© 2026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</a:rPr>
                <a:t>TechnoGenesis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. All rights reserved</a:t>
              </a:r>
              <a:endParaRPr lang="en-GB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3097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117CF-B74B-13DC-A975-54C69DC48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4EAF02-9F98-AB49-E364-C2C598B901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0"/>
            <a:ext cx="12172950" cy="68484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AEFE3A2-CB33-5A2D-ADA2-6043CFB4EECC}"/>
              </a:ext>
            </a:extLst>
          </p:cNvPr>
          <p:cNvSpPr/>
          <p:nvPr/>
        </p:nvSpPr>
        <p:spPr>
          <a:xfrm>
            <a:off x="2096655" y="2576945"/>
            <a:ext cx="3380509" cy="1570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5460F4-A8C2-4525-9BED-26850DCC7DAF}"/>
              </a:ext>
            </a:extLst>
          </p:cNvPr>
          <p:cNvSpPr/>
          <p:nvPr/>
        </p:nvSpPr>
        <p:spPr>
          <a:xfrm>
            <a:off x="19050" y="170917"/>
            <a:ext cx="1932771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Hollow-core </a:t>
            </a:r>
            <a:r>
              <a:rPr lang="en-US" b="0" cap="none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Fibre</a:t>
            </a:r>
            <a:endParaRPr lang="en-US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6A54C5C-DD03-BC2E-8ED9-EB500DD57F02}"/>
              </a:ext>
            </a:extLst>
          </p:cNvPr>
          <p:cNvSpPr/>
          <p:nvPr/>
        </p:nvSpPr>
        <p:spPr>
          <a:xfrm>
            <a:off x="3560337" y="169258"/>
            <a:ext cx="4005135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b="1" dirty="0" err="1">
                <a:ln/>
                <a:solidFill>
                  <a:schemeClr val="accent1">
                    <a:lumMod val="75000"/>
                  </a:schemeClr>
                </a:solidFill>
              </a:rPr>
              <a:t>Lumenisity</a:t>
            </a:r>
            <a:r>
              <a:rPr lang="en-US" b="1" dirty="0">
                <a:ln/>
                <a:solidFill>
                  <a:schemeClr val="accent1">
                    <a:lumMod val="75000"/>
                  </a:schemeClr>
                </a:solidFill>
              </a:rPr>
              <a:t>: A Technology transfer story</a:t>
            </a:r>
            <a:endParaRPr lang="en-US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BDE2587-09D5-9684-04E1-01D04E64810E}"/>
              </a:ext>
            </a:extLst>
          </p:cNvPr>
          <p:cNvSpPr/>
          <p:nvPr/>
        </p:nvSpPr>
        <p:spPr>
          <a:xfrm>
            <a:off x="8649938" y="2618854"/>
            <a:ext cx="3327002" cy="105681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 err="1">
                <a:solidFill>
                  <a:srgbClr val="0070C0"/>
                </a:solidFill>
              </a:rPr>
              <a:t>University</a:t>
            </a:r>
            <a:r>
              <a:rPr lang="fr-FR" sz="1600" b="1" dirty="0">
                <a:solidFill>
                  <a:srgbClr val="0070C0"/>
                </a:solidFill>
              </a:rPr>
              <a:t> of Southampton </a:t>
            </a:r>
            <a:r>
              <a:rPr lang="fr-FR" sz="1600" dirty="0">
                <a:solidFill>
                  <a:schemeClr val="tx1"/>
                </a:solidFill>
              </a:rPr>
              <a:t>-&gt; Spin out </a:t>
            </a:r>
            <a:r>
              <a:rPr lang="fr-FR" sz="1600" b="1" dirty="0" err="1">
                <a:solidFill>
                  <a:srgbClr val="FF0000"/>
                </a:solidFill>
              </a:rPr>
              <a:t>Lumenisity</a:t>
            </a:r>
            <a:r>
              <a:rPr lang="fr-FR" sz="1600" dirty="0">
                <a:solidFill>
                  <a:schemeClr val="tx1"/>
                </a:solidFill>
              </a:rPr>
              <a:t> -&gt; </a:t>
            </a:r>
            <a:r>
              <a:rPr lang="fr-FR" sz="1600" dirty="0" err="1">
                <a:solidFill>
                  <a:schemeClr val="tx1"/>
                </a:solidFill>
              </a:rPr>
              <a:t>Acquired</a:t>
            </a:r>
            <a:r>
              <a:rPr lang="fr-FR" sz="1600" dirty="0">
                <a:solidFill>
                  <a:schemeClr val="tx1"/>
                </a:solidFill>
              </a:rPr>
              <a:t> by </a:t>
            </a:r>
            <a:r>
              <a:rPr lang="fr-FR" sz="1600" b="1" dirty="0">
                <a:solidFill>
                  <a:srgbClr val="FFC000"/>
                </a:solidFill>
              </a:rPr>
              <a:t>Microsoft</a:t>
            </a:r>
            <a:r>
              <a:rPr lang="fr-FR" sz="1600" dirty="0">
                <a:solidFill>
                  <a:schemeClr val="tx1"/>
                </a:solidFill>
              </a:rPr>
              <a:t> </a:t>
            </a:r>
            <a:r>
              <a:rPr lang="fr-FR" sz="1600" dirty="0" err="1">
                <a:solidFill>
                  <a:schemeClr val="tx1"/>
                </a:solidFill>
              </a:rPr>
              <a:t>December</a:t>
            </a:r>
            <a:r>
              <a:rPr lang="fr-FR" sz="1600" dirty="0">
                <a:solidFill>
                  <a:schemeClr val="tx1"/>
                </a:solidFill>
              </a:rPr>
              <a:t> 2022</a:t>
            </a:r>
            <a:endParaRPr lang="en-GB" sz="1600" dirty="0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3A7326E-A4B3-F0CE-5DC5-DF7FBD664719}"/>
              </a:ext>
            </a:extLst>
          </p:cNvPr>
          <p:cNvGrpSpPr/>
          <p:nvPr/>
        </p:nvGrpSpPr>
        <p:grpSpPr>
          <a:xfrm>
            <a:off x="113010" y="992654"/>
            <a:ext cx="8184053" cy="4385462"/>
            <a:chOff x="1814870" y="2378955"/>
            <a:chExt cx="7623502" cy="3781749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45FE90C-E15C-D359-5ADF-914C16F93D19}"/>
                </a:ext>
              </a:extLst>
            </p:cNvPr>
            <p:cNvGrpSpPr/>
            <p:nvPr/>
          </p:nvGrpSpPr>
          <p:grpSpPr>
            <a:xfrm>
              <a:off x="1814870" y="2378955"/>
              <a:ext cx="7623502" cy="3781749"/>
              <a:chOff x="1814870" y="2378955"/>
              <a:chExt cx="7623502" cy="378174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0B41819-F9BF-D135-2223-C2E834306281}"/>
                  </a:ext>
                </a:extLst>
              </p:cNvPr>
              <p:cNvSpPr/>
              <p:nvPr/>
            </p:nvSpPr>
            <p:spPr>
              <a:xfrm>
                <a:off x="2897249" y="4236954"/>
                <a:ext cx="2784585" cy="10210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A4F293C2-4E33-F9FB-85E9-E8E65C8674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14870" y="2415309"/>
                <a:ext cx="7623502" cy="3745395"/>
              </a:xfrm>
              <a:prstGeom prst="rect">
                <a:avLst/>
              </a:prstGeom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1F6D1F6-819F-A24A-9CEE-8175C3B56494}"/>
                  </a:ext>
                </a:extLst>
              </p:cNvPr>
              <p:cNvSpPr/>
              <p:nvPr/>
            </p:nvSpPr>
            <p:spPr>
              <a:xfrm>
                <a:off x="4289541" y="2378955"/>
                <a:ext cx="2586789" cy="24209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41679C6-98F2-4870-B690-CDECC50D9B0B}"/>
                </a:ext>
              </a:extLst>
            </p:cNvPr>
            <p:cNvSpPr/>
            <p:nvPr/>
          </p:nvSpPr>
          <p:spPr>
            <a:xfrm>
              <a:off x="7742971" y="2995516"/>
              <a:ext cx="1302979" cy="2647903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DB63333-39F5-24D4-8B39-905930696A7B}"/>
              </a:ext>
            </a:extLst>
          </p:cNvPr>
          <p:cNvSpPr txBox="1"/>
          <p:nvPr/>
        </p:nvSpPr>
        <p:spPr>
          <a:xfrm>
            <a:off x="672464" y="2879961"/>
            <a:ext cx="25587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© </a:t>
            </a:r>
            <a:r>
              <a:rPr lang="fr-FR" sz="1000" dirty="0" err="1"/>
              <a:t>TechnoGenesis</a:t>
            </a:r>
            <a:r>
              <a:rPr lang="fr-FR" sz="1000" dirty="0"/>
              <a:t> – </a:t>
            </a:r>
            <a:r>
              <a:rPr lang="fr-FR" sz="1000" dirty="0" err="1"/>
              <a:t>Minesoft</a:t>
            </a:r>
            <a:r>
              <a:rPr lang="fr-FR" sz="1000" dirty="0"/>
              <a:t> Origin July 2026</a:t>
            </a:r>
            <a:endParaRPr lang="en-GB" sz="1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6FD5EC-19DF-4753-7B32-D9357D0D7A22}"/>
              </a:ext>
            </a:extLst>
          </p:cNvPr>
          <p:cNvSpPr txBox="1"/>
          <p:nvPr/>
        </p:nvSpPr>
        <p:spPr>
          <a:xfrm>
            <a:off x="554892" y="4973157"/>
            <a:ext cx="4988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2016</a:t>
            </a:r>
            <a:endParaRPr lang="en-GB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C9BBE2-2A87-EF6E-1FFF-3283E3AC3AB0}"/>
              </a:ext>
            </a:extLst>
          </p:cNvPr>
          <p:cNvSpPr txBox="1"/>
          <p:nvPr/>
        </p:nvSpPr>
        <p:spPr>
          <a:xfrm>
            <a:off x="3383817" y="4960363"/>
            <a:ext cx="4988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2020</a:t>
            </a:r>
            <a:endParaRPr lang="en-GB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F65ECC-EEDB-F6F2-4937-F564D4EC21B3}"/>
              </a:ext>
            </a:extLst>
          </p:cNvPr>
          <p:cNvSpPr txBox="1"/>
          <p:nvPr/>
        </p:nvSpPr>
        <p:spPr>
          <a:xfrm>
            <a:off x="6191731" y="4957094"/>
            <a:ext cx="4988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2024</a:t>
            </a:r>
            <a:endParaRPr lang="en-GB" sz="12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31E66BC-881B-7EB4-3ECB-59C25A507CE9}"/>
              </a:ext>
            </a:extLst>
          </p:cNvPr>
          <p:cNvGrpSpPr/>
          <p:nvPr/>
        </p:nvGrpSpPr>
        <p:grpSpPr>
          <a:xfrm>
            <a:off x="-428506" y="6388535"/>
            <a:ext cx="4114800" cy="422069"/>
            <a:chOff x="2436266" y="6394843"/>
            <a:chExt cx="4114800" cy="42206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70EABCD-57DE-1982-FA3E-B21259104832}"/>
                </a:ext>
              </a:extLst>
            </p:cNvPr>
            <p:cNvSpPr/>
            <p:nvPr/>
          </p:nvSpPr>
          <p:spPr>
            <a:xfrm>
              <a:off x="3440863" y="6451787"/>
              <a:ext cx="1894114" cy="365125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Footer Placeholder 4">
              <a:extLst>
                <a:ext uri="{FF2B5EF4-FFF2-40B4-BE49-F238E27FC236}">
                  <a16:creationId xmlns:a16="http://schemas.microsoft.com/office/drawing/2014/main" id="{EC6418B0-9B3E-9438-12D3-32659BD49F29}"/>
                </a:ext>
              </a:extLst>
            </p:cNvPr>
            <p:cNvSpPr txBox="1">
              <a:spLocks/>
            </p:cNvSpPr>
            <p:nvPr/>
          </p:nvSpPr>
          <p:spPr>
            <a:xfrm>
              <a:off x="2436266" y="6394843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© 2026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</a:rPr>
                <a:t>TechnoGenesis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. All rights reserved</a:t>
              </a:r>
              <a:endParaRPr lang="en-GB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6A91CE5-AF64-7A35-48AB-869F7188731B}"/>
              </a:ext>
            </a:extLst>
          </p:cNvPr>
          <p:cNvGrpSpPr/>
          <p:nvPr/>
        </p:nvGrpSpPr>
        <p:grpSpPr>
          <a:xfrm>
            <a:off x="-3592286" y="-3069771"/>
            <a:ext cx="20795726" cy="11899798"/>
            <a:chOff x="-1238250" y="70813"/>
            <a:chExt cx="14668500" cy="6582648"/>
          </a:xfrm>
          <a:scene3d>
            <a:camera prst="orthographicFront">
              <a:rot lat="0" lon="0" rev="1800000"/>
            </a:camera>
            <a:lightRig rig="threePt" dir="t"/>
          </a:scene3d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140C66D-F2AD-0572-31F5-67CAE5E3B89B}"/>
                </a:ext>
              </a:extLst>
            </p:cNvPr>
            <p:cNvGrpSpPr/>
            <p:nvPr userDrawn="1"/>
          </p:nvGrpSpPr>
          <p:grpSpPr>
            <a:xfrm>
              <a:off x="-1238250" y="2825520"/>
              <a:ext cx="14668500" cy="410394"/>
              <a:chOff x="-685800" y="2956303"/>
              <a:chExt cx="14668500" cy="410394"/>
            </a:xfrm>
          </p:grpSpPr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3A0B398-7941-E82C-D049-66D8FF1434B9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5A91EABC-841A-E8A1-B4BF-76E2726BA24B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FF0D0E03-E876-3696-0892-B11703C19E23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A1AC5A39-4E01-CA61-04E3-1830ED724062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19E15A4-287E-D94C-761B-77CB21F9962B}"/>
                </a:ext>
              </a:extLst>
            </p:cNvPr>
            <p:cNvGrpSpPr/>
            <p:nvPr userDrawn="1"/>
          </p:nvGrpSpPr>
          <p:grpSpPr>
            <a:xfrm>
              <a:off x="-1238250" y="3710392"/>
              <a:ext cx="14668500" cy="410394"/>
              <a:chOff x="-685800" y="2956303"/>
              <a:chExt cx="14668500" cy="410394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03EA5CB-95C3-BF79-A024-17C900EFB853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CCAF714-521B-1A3E-BBEC-A203EC584C6A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1EAFCD8-A994-CCB6-4A13-7F5578C91A2B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70D94C7-6521-7243-AD23-126C6FCBB796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05A4B52-7D93-3AAD-1882-28025B0BDF67}"/>
                </a:ext>
              </a:extLst>
            </p:cNvPr>
            <p:cNvGrpSpPr/>
            <p:nvPr userDrawn="1"/>
          </p:nvGrpSpPr>
          <p:grpSpPr>
            <a:xfrm>
              <a:off x="-1238250" y="4583102"/>
              <a:ext cx="14668500" cy="410394"/>
              <a:chOff x="-685800" y="2956303"/>
              <a:chExt cx="14668500" cy="410394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FF1557C-41EB-04AE-78E9-D9A3E1DA43DD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953ED2D-57C9-D5EE-118F-6A414604A094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D165C9B-F995-3D43-158D-43F7FD7CDDF8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0F1B4D9-82CC-D4B2-6DA4-36ACC672530A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A2D6D30-ACFA-3CEB-AEF4-06D511DB97D9}"/>
                </a:ext>
              </a:extLst>
            </p:cNvPr>
            <p:cNvGrpSpPr/>
            <p:nvPr userDrawn="1"/>
          </p:nvGrpSpPr>
          <p:grpSpPr>
            <a:xfrm>
              <a:off x="-1238250" y="5467974"/>
              <a:ext cx="14668500" cy="410394"/>
              <a:chOff x="-685800" y="2956303"/>
              <a:chExt cx="14668500" cy="410394"/>
            </a:xfrm>
          </p:grpSpPr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84C1DD9-C277-1566-39E3-BBE52B032A43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7D5C2E9-AF53-66AA-0883-5D25810C1EC0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6C93134-C606-69FF-2BBA-F80243010265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765E7DB-53FE-A8F1-5081-DE535C13F06E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96F5ECA-E897-F3FE-319D-193B95D0D5C4}"/>
                </a:ext>
              </a:extLst>
            </p:cNvPr>
            <p:cNvGrpSpPr/>
            <p:nvPr userDrawn="1"/>
          </p:nvGrpSpPr>
          <p:grpSpPr>
            <a:xfrm>
              <a:off x="-1238250" y="1859650"/>
              <a:ext cx="14668500" cy="410394"/>
              <a:chOff x="-685800" y="2956303"/>
              <a:chExt cx="14668500" cy="410394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0F48823-0B2C-A770-3B42-15FEDB2AC9F3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3AA2896-2B6F-8035-B032-D771C3440581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D31F88B-B391-B47B-6D49-3E9CC82C6165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31E3E98-E9E5-CF6C-9DA2-F037B8E7AE2D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188EA53-57FE-5802-1FB1-65687A3779DF}"/>
                </a:ext>
              </a:extLst>
            </p:cNvPr>
            <p:cNvGrpSpPr/>
            <p:nvPr userDrawn="1"/>
          </p:nvGrpSpPr>
          <p:grpSpPr>
            <a:xfrm>
              <a:off x="-1238250" y="70813"/>
              <a:ext cx="14668500" cy="410394"/>
              <a:chOff x="-685800" y="2956303"/>
              <a:chExt cx="14668500" cy="410394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EE47A22-AA56-9ABB-3067-3425B98BA997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3CE1FB8-30BF-61F7-96C0-41CAF43B4D2C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87955A0-9522-959A-E7AE-DB1D0470969A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5E444B4-4149-23C3-8498-1B3E480B60AA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8644384-C745-9C89-92D7-E4BFAB6C4015}"/>
                </a:ext>
              </a:extLst>
            </p:cNvPr>
            <p:cNvGrpSpPr/>
            <p:nvPr userDrawn="1"/>
          </p:nvGrpSpPr>
          <p:grpSpPr>
            <a:xfrm>
              <a:off x="-1238250" y="949927"/>
              <a:ext cx="14668500" cy="410394"/>
              <a:chOff x="-685800" y="2956303"/>
              <a:chExt cx="14668500" cy="410394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329576D-80FD-2283-AE3F-0C4D3E601C23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8CC1318-FFFA-7683-CDE0-DA05638BF52B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10284B7-8C01-85B9-DA08-E191D9C2E963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809392F-E2B2-7DE7-78AF-D2F60B03A0DD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8E74DF31-E9BA-2749-5C35-D01EB3483590}"/>
                </a:ext>
              </a:extLst>
            </p:cNvPr>
            <p:cNvGrpSpPr/>
            <p:nvPr userDrawn="1"/>
          </p:nvGrpSpPr>
          <p:grpSpPr>
            <a:xfrm>
              <a:off x="-1238250" y="6243067"/>
              <a:ext cx="14668500" cy="410394"/>
              <a:chOff x="-685800" y="2956303"/>
              <a:chExt cx="14668500" cy="410394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A628103-4D46-AB80-B4EC-0B788BA5E2D8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6D648C7-6695-4CE1-0230-08631A790451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8F8347A-A8F7-2254-7C55-2F71697AECB8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D03BAB0-9286-2934-25A0-2622C6B8F5C9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89721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D04F8-4ED7-D156-9FA5-1C8FAB0FA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01B289-A4E5-B709-5F1C-8D49A5453C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2950" cy="684847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4F1DF27-1A7A-AFB5-88D1-25AE35CB97E5}"/>
              </a:ext>
            </a:extLst>
          </p:cNvPr>
          <p:cNvSpPr/>
          <p:nvPr/>
        </p:nvSpPr>
        <p:spPr>
          <a:xfrm>
            <a:off x="19050" y="170917"/>
            <a:ext cx="1932771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Study S-curves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068AFA-A19D-0019-F904-71F31412AF48}"/>
              </a:ext>
            </a:extLst>
          </p:cNvPr>
          <p:cNvSpPr/>
          <p:nvPr/>
        </p:nvSpPr>
        <p:spPr>
          <a:xfrm>
            <a:off x="2849576" y="169258"/>
            <a:ext cx="5426678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b="1" cap="none" spc="0" dirty="0">
                <a:ln/>
                <a:solidFill>
                  <a:schemeClr val="accent1">
                    <a:lumMod val="75000"/>
                  </a:schemeClr>
                </a:solidFill>
                <a:effectLst/>
              </a:rPr>
              <a:t>When does it matter? – Niche-first, mass-market-later</a:t>
            </a:r>
            <a:endParaRPr lang="en-US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814D90F-5C11-BDA7-8CDC-19202B64BF7A}"/>
              </a:ext>
            </a:extLst>
          </p:cNvPr>
          <p:cNvSpPr/>
          <p:nvPr/>
        </p:nvSpPr>
        <p:spPr>
          <a:xfrm>
            <a:off x="1472610" y="869195"/>
            <a:ext cx="9246780" cy="43517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1600" b="1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7EA214-EB9F-66FC-6B80-BA774226EDD4}"/>
              </a:ext>
            </a:extLst>
          </p:cNvPr>
          <p:cNvSpPr txBox="1"/>
          <p:nvPr/>
        </p:nvSpPr>
        <p:spPr>
          <a:xfrm>
            <a:off x="1472610" y="917507"/>
            <a:ext cx="96016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1C2430"/>
                </a:solidFill>
                <a:effectLst/>
                <a:latin typeface="Segoe UI" panose="020B0502040204020203" pitchFamily="34" charset="0"/>
              </a:rPr>
              <a:t>A priority-year S-curve tells you </a:t>
            </a:r>
            <a:r>
              <a:rPr lang="en-US" sz="1600" b="1" i="0" dirty="0">
                <a:solidFill>
                  <a:srgbClr val="1F3A5F"/>
                </a:solidFill>
                <a:effectLst/>
                <a:latin typeface="Segoe UI" panose="020B0502040204020203" pitchFamily="34" charset="0"/>
              </a:rPr>
              <a:t>when</a:t>
            </a:r>
            <a:r>
              <a:rPr lang="en-US" sz="1600" b="0" i="0" dirty="0">
                <a:solidFill>
                  <a:srgbClr val="1C2430"/>
                </a:solidFill>
                <a:effectLst/>
                <a:latin typeface="Segoe UI" panose="020B0502040204020203" pitchFamily="34" charset="0"/>
              </a:rPr>
              <a:t> something was invented — not </a:t>
            </a:r>
            <a:r>
              <a:rPr lang="en-US" sz="1600" b="1" i="0" dirty="0">
                <a:solidFill>
                  <a:srgbClr val="1F3A5F"/>
                </a:solidFill>
                <a:effectLst/>
                <a:latin typeface="Segoe UI" panose="020B0502040204020203" pitchFamily="34" charset="0"/>
              </a:rPr>
              <a:t>when</a:t>
            </a:r>
            <a:r>
              <a:rPr lang="en-US" sz="1600" b="0" i="0" dirty="0">
                <a:solidFill>
                  <a:srgbClr val="1C2430"/>
                </a:solidFill>
                <a:effectLst/>
                <a:latin typeface="Segoe UI" panose="020B0502040204020203" pitchFamily="34" charset="0"/>
              </a:rPr>
              <a:t>, or </a:t>
            </a:r>
            <a:r>
              <a:rPr lang="en-US" sz="1600" b="1" i="0" dirty="0">
                <a:solidFill>
                  <a:srgbClr val="1F3A5F"/>
                </a:solidFill>
                <a:effectLst/>
                <a:latin typeface="Segoe UI" panose="020B0502040204020203" pitchFamily="34" charset="0"/>
              </a:rPr>
              <a:t>where</a:t>
            </a:r>
            <a:r>
              <a:rPr lang="en-US" sz="1600" b="0" i="0" dirty="0">
                <a:solidFill>
                  <a:srgbClr val="1C2430"/>
                </a:solidFill>
                <a:effectLst/>
                <a:latin typeface="Segoe UI" panose="020B0502040204020203" pitchFamily="34" charset="0"/>
              </a:rPr>
              <a:t>, it will matter.</a:t>
            </a:r>
            <a:endParaRPr lang="en-GB" sz="16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4E27C45-1BEA-EB12-5345-2E7D18D54791}"/>
              </a:ext>
            </a:extLst>
          </p:cNvPr>
          <p:cNvSpPr txBox="1"/>
          <p:nvPr/>
        </p:nvSpPr>
        <p:spPr>
          <a:xfrm>
            <a:off x="240645" y="5008411"/>
            <a:ext cx="8172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***</a:t>
            </a:r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F887FE-43D9-A634-E7AF-9D62D2982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607" y="1462757"/>
            <a:ext cx="11760785" cy="13798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47E5583-644D-EC20-E6EF-2F9D3AA2554F}"/>
              </a:ext>
            </a:extLst>
          </p:cNvPr>
          <p:cNvSpPr txBox="1"/>
          <p:nvPr/>
        </p:nvSpPr>
        <p:spPr>
          <a:xfrm>
            <a:off x="8432987" y="1673406"/>
            <a:ext cx="2427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/>
              <a:t>*</a:t>
            </a:r>
            <a:endParaRPr lang="en-GB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B30C9EA-C163-5410-978F-44C161940BC4}"/>
              </a:ext>
            </a:extLst>
          </p:cNvPr>
          <p:cNvGrpSpPr/>
          <p:nvPr/>
        </p:nvGrpSpPr>
        <p:grpSpPr>
          <a:xfrm>
            <a:off x="5985913" y="3055894"/>
            <a:ext cx="5798440" cy="2961920"/>
            <a:chOff x="5985913" y="3055894"/>
            <a:chExt cx="5798440" cy="296192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4F089DD-93DE-7B18-A413-25D1A0D88355}"/>
                </a:ext>
              </a:extLst>
            </p:cNvPr>
            <p:cNvSpPr txBox="1"/>
            <p:nvPr/>
          </p:nvSpPr>
          <p:spPr>
            <a:xfrm>
              <a:off x="7018532" y="3108899"/>
              <a:ext cx="66429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dirty="0"/>
                <a:t>***</a:t>
              </a:r>
              <a:endParaRPr lang="en-GB" dirty="0"/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BBA132C9-83E2-814C-D9DF-E42EC20500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85913" y="3382504"/>
              <a:ext cx="4894148" cy="263531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EAB4FF6-3A8A-084F-35E2-4559B767BE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54427" y="3055894"/>
              <a:ext cx="2129926" cy="1131792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5DAE6D59-104D-EAD5-F98F-CACB08C51C24}"/>
              </a:ext>
            </a:extLst>
          </p:cNvPr>
          <p:cNvSpPr txBox="1"/>
          <p:nvPr/>
        </p:nvSpPr>
        <p:spPr>
          <a:xfrm>
            <a:off x="11717601" y="1858072"/>
            <a:ext cx="6642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**</a:t>
            </a:r>
            <a:endParaRPr lang="en-GB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88F47FC-EAE3-A2F6-5342-772880D39DFC}"/>
              </a:ext>
            </a:extLst>
          </p:cNvPr>
          <p:cNvGrpSpPr/>
          <p:nvPr/>
        </p:nvGrpSpPr>
        <p:grpSpPr>
          <a:xfrm>
            <a:off x="312887" y="3312338"/>
            <a:ext cx="6062644" cy="2219650"/>
            <a:chOff x="312887" y="3312338"/>
            <a:chExt cx="6062644" cy="221965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277C1BB-8D18-AFB8-69B8-D27BF23632DA}"/>
                </a:ext>
              </a:extLst>
            </p:cNvPr>
            <p:cNvSpPr txBox="1"/>
            <p:nvPr/>
          </p:nvSpPr>
          <p:spPr>
            <a:xfrm>
              <a:off x="597334" y="3312338"/>
              <a:ext cx="57781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i="1" dirty="0"/>
                <a:t>(Accepted </a:t>
              </a:r>
              <a:r>
                <a:rPr lang="fr-FR" sz="1400" i="1" dirty="0" err="1"/>
                <a:t>Invited</a:t>
              </a:r>
              <a:r>
                <a:rPr lang="fr-FR" sz="1400" i="1" dirty="0"/>
                <a:t> talk at </a:t>
              </a:r>
              <a:r>
                <a:rPr lang="fr-FR" sz="1400" dirty="0"/>
                <a:t>16th </a:t>
              </a:r>
              <a:r>
                <a:rPr lang="fr-FR" sz="1400" dirty="0" err="1"/>
                <a:t>Constructal</a:t>
              </a:r>
              <a:r>
                <a:rPr lang="fr-FR" sz="1400" dirty="0"/>
                <a:t> Law Conf, 12-15Oct 2026, Paris</a:t>
              </a:r>
              <a:r>
                <a:rPr lang="fr-FR" sz="1400" i="1" dirty="0"/>
                <a:t>) </a:t>
              </a:r>
              <a:r>
                <a:rPr lang="fr-FR" sz="1400" dirty="0"/>
                <a:t>Project collaboration </a:t>
              </a:r>
              <a:r>
                <a:rPr lang="fr-FR" sz="1400" dirty="0" err="1"/>
                <a:t>between</a:t>
              </a:r>
              <a:r>
                <a:rPr lang="fr-FR" sz="1400" dirty="0"/>
                <a:t> </a:t>
              </a:r>
              <a:r>
                <a:rPr lang="fr-FR" sz="1400" dirty="0" err="1"/>
                <a:t>TechnoGenesis</a:t>
              </a:r>
              <a:r>
                <a:rPr lang="fr-FR" sz="1400" dirty="0"/>
                <a:t> &amp; PSL </a:t>
              </a:r>
              <a:r>
                <a:rPr lang="fr-FR" sz="1400" dirty="0" err="1"/>
                <a:t>University</a:t>
              </a:r>
              <a:r>
                <a:rPr lang="fr-FR" sz="1400" dirty="0"/>
                <a:t>, Paris</a:t>
              </a:r>
              <a:endParaRPr lang="en-GB" sz="14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BF6777D-ACEE-45EA-05A5-A9EC33036E2D}"/>
                </a:ext>
              </a:extLst>
            </p:cNvPr>
            <p:cNvSpPr txBox="1"/>
            <p:nvPr/>
          </p:nvSpPr>
          <p:spPr>
            <a:xfrm>
              <a:off x="663751" y="4005987"/>
              <a:ext cx="4894147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i="1" dirty="0"/>
                <a:t>(FBG medical application) </a:t>
              </a:r>
              <a:r>
                <a:rPr lang="en-US" sz="1400" dirty="0"/>
                <a:t>Ren, H. (2020). </a:t>
              </a:r>
              <a:r>
                <a:rPr lang="en-US" sz="1400" i="1" dirty="0"/>
                <a:t>Flexible Robotics in Medicine: A Design Journey of Motion Generation Mechanisms and </a:t>
              </a:r>
              <a:r>
                <a:rPr lang="en-US" sz="1400" i="1" dirty="0" err="1"/>
                <a:t>Biorobotic</a:t>
              </a:r>
              <a:r>
                <a:rPr lang="en-US" sz="1400" i="1" dirty="0"/>
                <a:t> System Development</a:t>
              </a:r>
              <a:r>
                <a:rPr lang="en-US" sz="1400" dirty="0"/>
                <a:t>. Academic Press. </a:t>
              </a:r>
              <a:r>
                <a:rPr lang="en-US" sz="1400" dirty="0">
                  <a:latin typeface="Courier New" panose="02070309020205020404" pitchFamily="49" charset="0"/>
                </a:rPr>
                <a:t>https://doi.org/10.1016/C2018-0-00607-6</a:t>
              </a:r>
              <a:endParaRPr lang="en-GB" sz="14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90E682F-CAB8-C7FC-DA61-06B35C6DA9D2}"/>
                </a:ext>
              </a:extLst>
            </p:cNvPr>
            <p:cNvSpPr txBox="1"/>
            <p:nvPr/>
          </p:nvSpPr>
          <p:spPr>
            <a:xfrm>
              <a:off x="312887" y="4015427"/>
              <a:ext cx="81729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dirty="0"/>
                <a:t>**</a:t>
              </a:r>
              <a:endParaRPr lang="en-GB" dirty="0"/>
            </a:p>
            <a:p>
              <a:endParaRPr lang="en-GB" dirty="0"/>
            </a:p>
            <a:p>
              <a:endParaRPr lang="en-GB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9D99475-6BDF-A3DF-0538-4D0629F0C75A}"/>
                </a:ext>
              </a:extLst>
            </p:cNvPr>
            <p:cNvSpPr txBox="1"/>
            <p:nvPr/>
          </p:nvSpPr>
          <p:spPr>
            <a:xfrm>
              <a:off x="714205" y="5008768"/>
              <a:ext cx="489414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(image </a:t>
              </a:r>
              <a:r>
                <a:rPr lang="en-US" sz="1400" i="1" dirty="0"/>
                <a:t>taken from</a:t>
              </a:r>
              <a:r>
                <a:rPr lang="en-US" sz="1400" dirty="0"/>
                <a:t>) Mexis, M. (2004). </a:t>
              </a:r>
              <a:r>
                <a:rPr lang="en-US" sz="1400" i="1" dirty="0"/>
                <a:t>Fiber Bragg Grating Sensing Systems, </a:t>
              </a:r>
              <a:r>
                <a:rPr lang="en-US" sz="1400" dirty="0"/>
                <a:t>MSc Thesis, Aston University. </a:t>
              </a:r>
              <a:endParaRPr lang="en-GB" sz="1400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E9AE4BD-1ABB-CA2E-1634-9268D95F35C9}"/>
                </a:ext>
              </a:extLst>
            </p:cNvPr>
            <p:cNvSpPr txBox="1"/>
            <p:nvPr/>
          </p:nvSpPr>
          <p:spPr>
            <a:xfrm>
              <a:off x="386945" y="3324387"/>
              <a:ext cx="353614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dirty="0"/>
                <a:t>*</a:t>
              </a:r>
              <a:endParaRPr lang="en-GB" dirty="0"/>
            </a:p>
            <a:p>
              <a:endParaRPr lang="en-GB" dirty="0"/>
            </a:p>
            <a:p>
              <a:endParaRPr lang="en-GB" dirty="0"/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76A5D8CE-EA06-A4AA-3817-8B9F3A856671}"/>
              </a:ext>
            </a:extLst>
          </p:cNvPr>
          <p:cNvGrpSpPr/>
          <p:nvPr/>
        </p:nvGrpSpPr>
        <p:grpSpPr>
          <a:xfrm>
            <a:off x="-3592286" y="-3069771"/>
            <a:ext cx="20795726" cy="11899798"/>
            <a:chOff x="-1238250" y="70813"/>
            <a:chExt cx="14668500" cy="6582648"/>
          </a:xfrm>
          <a:scene3d>
            <a:camera prst="orthographicFront">
              <a:rot lat="0" lon="0" rev="1800000"/>
            </a:camera>
            <a:lightRig rig="threePt" dir="t"/>
          </a:scene3d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7B35B53C-7488-98E4-31EF-0A133CFEE3D0}"/>
                </a:ext>
              </a:extLst>
            </p:cNvPr>
            <p:cNvGrpSpPr/>
            <p:nvPr userDrawn="1"/>
          </p:nvGrpSpPr>
          <p:grpSpPr>
            <a:xfrm>
              <a:off x="-1238250" y="2825520"/>
              <a:ext cx="14668500" cy="410394"/>
              <a:chOff x="-685800" y="2956303"/>
              <a:chExt cx="14668500" cy="410394"/>
            </a:xfrm>
          </p:grpSpPr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E59B8F56-1A9A-5C37-EE33-FE5A1109636B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4F80E31B-8509-41BB-1260-4CFCC8A69401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24303D75-D3C9-5E68-C302-276E967FCB1F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F9F9DBB3-D11C-D805-AD90-5ACEC7A3BD25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EF2956C6-E899-5F10-AD28-98F661F4F7DF}"/>
                </a:ext>
              </a:extLst>
            </p:cNvPr>
            <p:cNvGrpSpPr/>
            <p:nvPr userDrawn="1"/>
          </p:nvGrpSpPr>
          <p:grpSpPr>
            <a:xfrm>
              <a:off x="-1238250" y="3710392"/>
              <a:ext cx="14668500" cy="410394"/>
              <a:chOff x="-685800" y="2956303"/>
              <a:chExt cx="14668500" cy="410394"/>
            </a:xfrm>
          </p:grpSpPr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247E4265-A1C4-8FE1-501F-0E7218BF6B33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52EF1478-7B3B-841E-93EB-A861B7EF77B8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D959D6F9-FCCB-7022-1F54-989626649D6E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9B5CA8AE-6F10-278D-9D65-266B6F764572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E100A09E-EC88-7A39-E6E2-8B06E075CDC7}"/>
                </a:ext>
              </a:extLst>
            </p:cNvPr>
            <p:cNvGrpSpPr/>
            <p:nvPr userDrawn="1"/>
          </p:nvGrpSpPr>
          <p:grpSpPr>
            <a:xfrm>
              <a:off x="-1238250" y="4583102"/>
              <a:ext cx="14668500" cy="410394"/>
              <a:chOff x="-685800" y="2956303"/>
              <a:chExt cx="14668500" cy="410394"/>
            </a:xfrm>
          </p:grpSpPr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2BE46FC6-7EF7-B6B6-90BA-022552AFA014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E9F643E8-416B-B127-3AB0-103E0DE5D3BA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E53D57BB-5316-6385-F938-8E05C35DFB71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6785EDA0-876D-2AC9-4A06-F9BF647A5164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0F50031E-E8EC-FC0C-B5CD-D18398ADF77C}"/>
                </a:ext>
              </a:extLst>
            </p:cNvPr>
            <p:cNvGrpSpPr/>
            <p:nvPr userDrawn="1"/>
          </p:nvGrpSpPr>
          <p:grpSpPr>
            <a:xfrm>
              <a:off x="-1238250" y="5467974"/>
              <a:ext cx="14668500" cy="410394"/>
              <a:chOff x="-685800" y="2956303"/>
              <a:chExt cx="14668500" cy="410394"/>
            </a:xfrm>
          </p:grpSpPr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B23B0733-B101-AF71-D662-B273EA62E8EC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4DCB4477-7675-74C1-67A5-84907A3F878B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767BA60A-6970-A675-2E00-C487EE1DAF2C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FB77E9CE-794C-C0D9-5550-E12A50B47543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B5686F56-4075-6D6B-029D-B125716F183F}"/>
                </a:ext>
              </a:extLst>
            </p:cNvPr>
            <p:cNvGrpSpPr/>
            <p:nvPr userDrawn="1"/>
          </p:nvGrpSpPr>
          <p:grpSpPr>
            <a:xfrm>
              <a:off x="-1238250" y="1859650"/>
              <a:ext cx="14668500" cy="410394"/>
              <a:chOff x="-685800" y="2956303"/>
              <a:chExt cx="14668500" cy="410394"/>
            </a:xfrm>
          </p:grpSpPr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7BF6DFAA-149E-521F-3DDC-EA8E3A40E3D8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6CD25655-C24B-3028-9D56-B4243AD47E07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1E88BE58-ED52-189C-C8DA-72CC8B174816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F3340C9D-3445-4038-4F2D-46AA516C84CE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4BFC9F33-3B7A-EE6E-EE86-1EFDEAA70FC7}"/>
                </a:ext>
              </a:extLst>
            </p:cNvPr>
            <p:cNvGrpSpPr/>
            <p:nvPr userDrawn="1"/>
          </p:nvGrpSpPr>
          <p:grpSpPr>
            <a:xfrm>
              <a:off x="-1238250" y="70813"/>
              <a:ext cx="14668500" cy="410394"/>
              <a:chOff x="-685800" y="2956303"/>
              <a:chExt cx="14668500" cy="410394"/>
            </a:xfrm>
          </p:grpSpPr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A7E1DFD1-C6B1-4EA2-A45C-605C376C6588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8916C90B-D144-99CE-87FF-8361AEFFD6F1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D318E358-A978-1A27-04A8-4C2D003C955F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0E27FF59-8CDE-5458-B9D6-55108F59E8EB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D869AB94-A0CC-3180-BF5B-69CFAB1E8DD1}"/>
                </a:ext>
              </a:extLst>
            </p:cNvPr>
            <p:cNvGrpSpPr/>
            <p:nvPr userDrawn="1"/>
          </p:nvGrpSpPr>
          <p:grpSpPr>
            <a:xfrm>
              <a:off x="-1238250" y="949927"/>
              <a:ext cx="14668500" cy="410394"/>
              <a:chOff x="-685800" y="2956303"/>
              <a:chExt cx="14668500" cy="410394"/>
            </a:xfrm>
          </p:grpSpPr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82BC8D06-6AFF-A98B-789B-9C925D6006B9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4353B8F1-3839-8958-77A7-99D06CBDF33B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4D39A3B3-A8B1-A315-671A-8C1541035B25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E00B20C0-47E7-E970-9E4E-C65140B5EEDB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B43CDB78-5F1F-AC73-730D-3B8061FEBFB0}"/>
                </a:ext>
              </a:extLst>
            </p:cNvPr>
            <p:cNvGrpSpPr/>
            <p:nvPr userDrawn="1"/>
          </p:nvGrpSpPr>
          <p:grpSpPr>
            <a:xfrm>
              <a:off x="-1238250" y="6243067"/>
              <a:ext cx="14668500" cy="410394"/>
              <a:chOff x="-685800" y="2956303"/>
              <a:chExt cx="14668500" cy="410394"/>
            </a:xfrm>
          </p:grpSpPr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96A1C9FD-385A-CE4A-0F96-E3C6DAE6A09E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EFC22C37-4C08-5938-F76F-5BAC943A505F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F1ACA84C-B394-8CBF-EDB4-9BB95DEC2FE9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36CB19F1-7CD5-7AB1-46A8-4A5E3A89B66D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617D6F4-F12A-F264-1E18-B1B0F0146210}"/>
              </a:ext>
            </a:extLst>
          </p:cNvPr>
          <p:cNvGrpSpPr/>
          <p:nvPr/>
        </p:nvGrpSpPr>
        <p:grpSpPr>
          <a:xfrm>
            <a:off x="-428506" y="6388535"/>
            <a:ext cx="4114800" cy="422069"/>
            <a:chOff x="2436266" y="6394843"/>
            <a:chExt cx="4114800" cy="42206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98E5E8F-6C24-376C-D73A-CED413A9D3BA}"/>
                </a:ext>
              </a:extLst>
            </p:cNvPr>
            <p:cNvSpPr/>
            <p:nvPr/>
          </p:nvSpPr>
          <p:spPr>
            <a:xfrm>
              <a:off x="3440863" y="6451787"/>
              <a:ext cx="1894114" cy="365125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Footer Placeholder 4">
              <a:extLst>
                <a:ext uri="{FF2B5EF4-FFF2-40B4-BE49-F238E27FC236}">
                  <a16:creationId xmlns:a16="http://schemas.microsoft.com/office/drawing/2014/main" id="{997EA7B5-04A1-05B8-431F-088B31901BF1}"/>
                </a:ext>
              </a:extLst>
            </p:cNvPr>
            <p:cNvSpPr txBox="1">
              <a:spLocks/>
            </p:cNvSpPr>
            <p:nvPr/>
          </p:nvSpPr>
          <p:spPr>
            <a:xfrm>
              <a:off x="2436266" y="6394843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© 2026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</a:rPr>
                <a:t>TechnoGenesis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. All rights reserved</a:t>
              </a:r>
              <a:endParaRPr lang="en-GB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7997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454C50-FEEB-8DFD-7716-880847F4F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6016"/>
            <a:ext cx="12192000" cy="695002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77BEFDD-488F-14E7-94B4-B12732BBA000}"/>
              </a:ext>
            </a:extLst>
          </p:cNvPr>
          <p:cNvGrpSpPr/>
          <p:nvPr/>
        </p:nvGrpSpPr>
        <p:grpSpPr>
          <a:xfrm>
            <a:off x="-479685" y="6435931"/>
            <a:ext cx="4114800" cy="365125"/>
            <a:chOff x="2436266" y="6394843"/>
            <a:chExt cx="4114800" cy="36512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6CEC7C0-5C9B-CF2B-4F95-9F0BC923C259}"/>
                </a:ext>
              </a:extLst>
            </p:cNvPr>
            <p:cNvSpPr/>
            <p:nvPr/>
          </p:nvSpPr>
          <p:spPr>
            <a:xfrm>
              <a:off x="3216202" y="6451787"/>
              <a:ext cx="2118775" cy="308181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Footer Placeholder 4">
              <a:extLst>
                <a:ext uri="{FF2B5EF4-FFF2-40B4-BE49-F238E27FC236}">
                  <a16:creationId xmlns:a16="http://schemas.microsoft.com/office/drawing/2014/main" id="{7C2C8DDB-C954-24D5-DF56-D09B591EF862}"/>
                </a:ext>
              </a:extLst>
            </p:cNvPr>
            <p:cNvSpPr txBox="1">
              <a:spLocks/>
            </p:cNvSpPr>
            <p:nvPr/>
          </p:nvSpPr>
          <p:spPr>
            <a:xfrm>
              <a:off x="2436266" y="6394843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© 2026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</a:rPr>
                <a:t>TechnoGenesis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. All rights reserved</a:t>
              </a:r>
              <a:endParaRPr lang="en-GB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20110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5DEA6-1BA7-F722-5AA1-443B8B2E2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D2F2CF-38A8-151A-1E94-7FBD0C3A74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4762"/>
            <a:ext cx="12172950" cy="684847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8CD5E0AB-4572-5CF8-7307-61C9902CFF05}"/>
              </a:ext>
            </a:extLst>
          </p:cNvPr>
          <p:cNvSpPr/>
          <p:nvPr/>
        </p:nvSpPr>
        <p:spPr>
          <a:xfrm>
            <a:off x="-40915" y="254443"/>
            <a:ext cx="3365508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Optical coherence Tomography</a:t>
            </a:r>
            <a:endParaRPr lang="en-US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81BAE3C-79D2-9750-E9B0-ED39192EFC0F}"/>
              </a:ext>
            </a:extLst>
          </p:cNvPr>
          <p:cNvSpPr/>
          <p:nvPr/>
        </p:nvSpPr>
        <p:spPr>
          <a:xfrm>
            <a:off x="3274153" y="222053"/>
            <a:ext cx="517911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b="1" cap="none" spc="0" dirty="0">
                <a:ln/>
                <a:solidFill>
                  <a:schemeClr val="accent1">
                    <a:lumMod val="75000"/>
                  </a:schemeClr>
                </a:solidFill>
                <a:effectLst/>
              </a:rPr>
              <a:t>Number of families per priority year &amp; top assignees</a:t>
            </a:r>
            <a:endParaRPr lang="en-US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AD0CDCE-0BEE-4E75-B0A2-D327DCCF4717}"/>
              </a:ext>
            </a:extLst>
          </p:cNvPr>
          <p:cNvSpPr/>
          <p:nvPr/>
        </p:nvSpPr>
        <p:spPr>
          <a:xfrm>
            <a:off x="764159" y="4624009"/>
            <a:ext cx="4706362" cy="83509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</a:t>
            </a:r>
            <a:r>
              <a:rPr lang="en-US" b="1" dirty="0">
                <a:solidFill>
                  <a:schemeClr val="tx1"/>
                </a:solidFill>
              </a:rPr>
              <a:t>mature </a:t>
            </a:r>
            <a:r>
              <a:rPr lang="en-US" dirty="0">
                <a:solidFill>
                  <a:schemeClr val="tx1"/>
                </a:solidFill>
              </a:rPr>
              <a:t>domain: steep growth up to ~2012, then a flat plateau of ~400 families/yr — saturation.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C93C977-E46C-763C-158D-E0F35C97EB09}"/>
              </a:ext>
            </a:extLst>
          </p:cNvPr>
          <p:cNvSpPr/>
          <p:nvPr/>
        </p:nvSpPr>
        <p:spPr>
          <a:xfrm>
            <a:off x="6637025" y="4291930"/>
            <a:ext cx="4394527" cy="171833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accent1"/>
                </a:solidFill>
              </a:rPr>
              <a:t>Carl Zeiss</a:t>
            </a:r>
            <a:r>
              <a:rPr lang="fr-FR" b="1" dirty="0">
                <a:solidFill>
                  <a:schemeClr val="tx1"/>
                </a:solidFill>
              </a:rPr>
              <a:t>: </a:t>
            </a:r>
            <a:r>
              <a:rPr lang="fr-FR" dirty="0" err="1">
                <a:solidFill>
                  <a:schemeClr val="tx1"/>
                </a:solidFill>
              </a:rPr>
              <a:t>Early</a:t>
            </a:r>
            <a:r>
              <a:rPr lang="fr-FR" dirty="0">
                <a:solidFill>
                  <a:schemeClr val="tx1"/>
                </a:solidFill>
              </a:rPr>
              <a:t> &amp; </a:t>
            </a:r>
            <a:r>
              <a:rPr lang="fr-FR" dirty="0" err="1">
                <a:solidFill>
                  <a:schemeClr val="tx1"/>
                </a:solidFill>
              </a:rPr>
              <a:t>sustained</a:t>
            </a:r>
            <a:r>
              <a:rPr lang="fr-FR" dirty="0">
                <a:solidFill>
                  <a:schemeClr val="tx1"/>
                </a:solidFill>
              </a:rPr>
              <a:t> leader</a:t>
            </a:r>
          </a:p>
          <a:p>
            <a:pPr algn="ctr"/>
            <a:r>
              <a:rPr lang="fr-FR" b="1" dirty="0" err="1">
                <a:solidFill>
                  <a:srgbClr val="FFC000"/>
                </a:solidFill>
              </a:rPr>
              <a:t>Topcon</a:t>
            </a:r>
            <a:r>
              <a:rPr lang="fr-FR" b="1" dirty="0">
                <a:solidFill>
                  <a:srgbClr val="FFC000"/>
                </a:solidFill>
              </a:rPr>
              <a:t> &amp; </a:t>
            </a:r>
            <a:r>
              <a:rPr lang="fr-FR" b="1" dirty="0" err="1">
                <a:solidFill>
                  <a:srgbClr val="C00000"/>
                </a:solidFill>
              </a:rPr>
              <a:t>Alcon</a:t>
            </a:r>
            <a:r>
              <a:rPr lang="fr-FR" b="1" dirty="0">
                <a:solidFill>
                  <a:srgbClr val="FFC000"/>
                </a:solidFill>
              </a:rPr>
              <a:t> </a:t>
            </a:r>
            <a:r>
              <a:rPr lang="fr-FR" dirty="0">
                <a:solidFill>
                  <a:schemeClr val="tx1"/>
                </a:solidFill>
              </a:rPr>
              <a:t>: </a:t>
            </a:r>
            <a:r>
              <a:rPr lang="fr-FR" dirty="0" err="1">
                <a:solidFill>
                  <a:schemeClr val="tx1"/>
                </a:solidFill>
              </a:rPr>
              <a:t>Current</a:t>
            </a:r>
            <a:r>
              <a:rPr lang="fr-FR" dirty="0">
                <a:solidFill>
                  <a:schemeClr val="tx1"/>
                </a:solidFill>
              </a:rPr>
              <a:t> front-</a:t>
            </a:r>
            <a:r>
              <a:rPr lang="fr-FR" dirty="0" err="1">
                <a:solidFill>
                  <a:schemeClr val="tx1"/>
                </a:solidFill>
              </a:rPr>
              <a:t>runners</a:t>
            </a:r>
            <a:endParaRPr lang="fr-FR" dirty="0">
              <a:solidFill>
                <a:schemeClr val="tx1"/>
              </a:solidFill>
            </a:endParaRPr>
          </a:p>
          <a:p>
            <a:pPr algn="ctr"/>
            <a:r>
              <a:rPr lang="fr-FR" b="1" dirty="0">
                <a:solidFill>
                  <a:schemeClr val="accent6">
                    <a:lumMod val="75000"/>
                  </a:schemeClr>
                </a:solidFill>
              </a:rPr>
              <a:t>Canon</a:t>
            </a:r>
            <a:r>
              <a:rPr lang="fr-FR" dirty="0">
                <a:solidFill>
                  <a:schemeClr val="tx1"/>
                </a:solidFill>
              </a:rPr>
              <a:t>: </a:t>
            </a:r>
            <a:r>
              <a:rPr lang="fr-FR" dirty="0" err="1">
                <a:solidFill>
                  <a:schemeClr val="tx1"/>
                </a:solidFill>
              </a:rPr>
              <a:t>Optopol-driven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wave</a:t>
            </a:r>
            <a:r>
              <a:rPr lang="fr-FR" dirty="0">
                <a:solidFill>
                  <a:schemeClr val="tx1"/>
                </a:solidFill>
              </a:rPr>
              <a:t> (</a:t>
            </a:r>
            <a:r>
              <a:rPr lang="fr-FR" dirty="0" err="1">
                <a:solidFill>
                  <a:schemeClr val="tx1"/>
                </a:solidFill>
              </a:rPr>
              <a:t>peak</a:t>
            </a:r>
            <a:r>
              <a:rPr lang="fr-FR" dirty="0">
                <a:solidFill>
                  <a:schemeClr val="tx1"/>
                </a:solidFill>
              </a:rPr>
              <a:t> 2014, </a:t>
            </a:r>
            <a:r>
              <a:rPr lang="fr-FR" dirty="0" err="1">
                <a:solidFill>
                  <a:schemeClr val="tx1"/>
                </a:solidFill>
              </a:rPr>
              <a:t>then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retreat</a:t>
            </a:r>
            <a:r>
              <a:rPr lang="fr-FR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fr-FR" b="1" dirty="0" err="1">
                <a:solidFill>
                  <a:srgbClr val="CC0099"/>
                </a:solidFill>
              </a:rPr>
              <a:t>Nidek</a:t>
            </a:r>
            <a:r>
              <a:rPr lang="fr-FR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</a:t>
            </a:r>
            <a:r>
              <a:rPr lang="fr-FR" dirty="0" err="1">
                <a:solidFill>
                  <a:schemeClr val="tx1"/>
                </a:solidFill>
              </a:rPr>
              <a:t>Steady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ophthalmic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specialist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34C50E-DDAE-E46B-801B-3C8FF6C43824}"/>
              </a:ext>
            </a:extLst>
          </p:cNvPr>
          <p:cNvSpPr txBox="1"/>
          <p:nvPr/>
        </p:nvSpPr>
        <p:spPr>
          <a:xfrm>
            <a:off x="11320882" y="3579497"/>
            <a:ext cx="547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2024</a:t>
            </a:r>
            <a:endParaRPr lang="en-GB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200922-BFE7-7DA5-3B77-DD5FDE913029}"/>
              </a:ext>
            </a:extLst>
          </p:cNvPr>
          <p:cNvSpPr txBox="1"/>
          <p:nvPr/>
        </p:nvSpPr>
        <p:spPr>
          <a:xfrm>
            <a:off x="9918349" y="3573158"/>
            <a:ext cx="547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2018</a:t>
            </a:r>
            <a:endParaRPr lang="en-GB"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1F41284-65D6-E630-1B38-7CF79EDFE0A5}"/>
              </a:ext>
            </a:extLst>
          </p:cNvPr>
          <p:cNvSpPr txBox="1"/>
          <p:nvPr/>
        </p:nvSpPr>
        <p:spPr>
          <a:xfrm>
            <a:off x="8515816" y="3563614"/>
            <a:ext cx="547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2012</a:t>
            </a:r>
            <a:endParaRPr lang="en-GB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23D532D-E270-3528-45C3-6783B78B875F}"/>
              </a:ext>
            </a:extLst>
          </p:cNvPr>
          <p:cNvSpPr txBox="1"/>
          <p:nvPr/>
        </p:nvSpPr>
        <p:spPr>
          <a:xfrm>
            <a:off x="7119914" y="3573158"/>
            <a:ext cx="547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2006</a:t>
            </a:r>
            <a:endParaRPr lang="en-GB" sz="1400" dirty="0"/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2E42EC03-0ADB-21E8-C830-1AA9F38D3DD7}"/>
              </a:ext>
            </a:extLst>
          </p:cNvPr>
          <p:cNvGrpSpPr/>
          <p:nvPr/>
        </p:nvGrpSpPr>
        <p:grpSpPr>
          <a:xfrm>
            <a:off x="-29424" y="941588"/>
            <a:ext cx="6034897" cy="3036493"/>
            <a:chOff x="216577" y="965637"/>
            <a:chExt cx="6034897" cy="3036493"/>
          </a:xfrm>
        </p:grpSpPr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15642C5F-53E6-3F9C-85C0-AC1CA9B1C12B}"/>
                </a:ext>
              </a:extLst>
            </p:cNvPr>
            <p:cNvGrpSpPr/>
            <p:nvPr/>
          </p:nvGrpSpPr>
          <p:grpSpPr>
            <a:xfrm>
              <a:off x="216577" y="1034901"/>
              <a:ext cx="6034897" cy="2739286"/>
              <a:chOff x="4761195" y="3573158"/>
              <a:chExt cx="6034897" cy="2739286"/>
            </a:xfrm>
          </p:grpSpPr>
          <p:pic>
            <p:nvPicPr>
              <p:cNvPr id="109" name="Picture 108">
                <a:extLst>
                  <a:ext uri="{FF2B5EF4-FFF2-40B4-BE49-F238E27FC236}">
                    <a16:creationId xmlns:a16="http://schemas.microsoft.com/office/drawing/2014/main" id="{07E384BB-E980-70E5-97D0-9229D2BB1A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610"/>
              <a:stretch>
                <a:fillRect/>
              </a:stretch>
            </p:blipFill>
            <p:spPr>
              <a:xfrm>
                <a:off x="4761195" y="3573158"/>
                <a:ext cx="6034897" cy="2739286"/>
              </a:xfrm>
              <a:prstGeom prst="rect">
                <a:avLst/>
              </a:prstGeom>
            </p:spPr>
          </p:pic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8DF4A747-982E-408D-BAB1-B3718369DDA0}"/>
                  </a:ext>
                </a:extLst>
              </p:cNvPr>
              <p:cNvSpPr/>
              <p:nvPr/>
            </p:nvSpPr>
            <p:spPr>
              <a:xfrm>
                <a:off x="6386555" y="3573158"/>
                <a:ext cx="2844531" cy="24622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A5F76E55-678E-EDAA-A1C4-799812FBB285}"/>
                </a:ext>
              </a:extLst>
            </p:cNvPr>
            <p:cNvGrpSpPr/>
            <p:nvPr/>
          </p:nvGrpSpPr>
          <p:grpSpPr>
            <a:xfrm>
              <a:off x="482116" y="965637"/>
              <a:ext cx="5684954" cy="3036493"/>
              <a:chOff x="649627" y="1094621"/>
              <a:chExt cx="5684954" cy="3036493"/>
            </a:xfrm>
          </p:grpSpPr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2812CEC9-507D-D32C-B681-2E30F90B50A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29933" y="3416971"/>
                <a:ext cx="1558745" cy="285171"/>
              </a:xfrm>
              <a:prstGeom prst="line">
                <a:avLst/>
              </a:prstGeom>
              <a:ln w="34925">
                <a:solidFill>
                  <a:schemeClr val="accent2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5DC7251B-B1E9-ACB6-7D3A-A2E443FE4AD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10384" y="1852968"/>
                <a:ext cx="1762415" cy="1529208"/>
              </a:xfrm>
              <a:prstGeom prst="line">
                <a:avLst/>
              </a:prstGeom>
              <a:ln w="34925">
                <a:solidFill>
                  <a:schemeClr val="accent2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8F6FBDE5-9DE7-1443-66C7-2E274B79C97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72799" y="1821232"/>
                <a:ext cx="1609755" cy="66656"/>
              </a:xfrm>
              <a:prstGeom prst="line">
                <a:avLst/>
              </a:prstGeom>
              <a:ln w="34925">
                <a:solidFill>
                  <a:schemeClr val="accent2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B3CFDC04-043C-CB14-958E-CB8E1D840D01}"/>
                  </a:ext>
                </a:extLst>
              </p:cNvPr>
              <p:cNvSpPr txBox="1"/>
              <p:nvPr/>
            </p:nvSpPr>
            <p:spPr>
              <a:xfrm>
                <a:off x="3172525" y="3174406"/>
                <a:ext cx="255871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000" dirty="0"/>
                  <a:t>© </a:t>
                </a:r>
                <a:r>
                  <a:rPr lang="fr-FR" sz="1000" dirty="0" err="1"/>
                  <a:t>TechnoGenesis</a:t>
                </a:r>
                <a:r>
                  <a:rPr lang="fr-FR" sz="1000" dirty="0"/>
                  <a:t> – </a:t>
                </a:r>
                <a:r>
                  <a:rPr lang="fr-FR" sz="1000" dirty="0" err="1"/>
                  <a:t>Minesoft</a:t>
                </a:r>
                <a:r>
                  <a:rPr lang="fr-FR" sz="1000" dirty="0"/>
                  <a:t> Origin July 2026</a:t>
                </a:r>
                <a:endParaRPr lang="en-GB" sz="1000" dirty="0"/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AA42D9E5-25B4-B0D5-0A37-D0FA8C75D95F}"/>
                  </a:ext>
                </a:extLst>
              </p:cNvPr>
              <p:cNvSpPr txBox="1"/>
              <p:nvPr/>
            </p:nvSpPr>
            <p:spPr>
              <a:xfrm>
                <a:off x="649627" y="1094621"/>
                <a:ext cx="568495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400" dirty="0" err="1"/>
                  <a:t>Number</a:t>
                </a:r>
                <a:r>
                  <a:rPr lang="fr-FR" sz="1400" dirty="0"/>
                  <a:t> of </a:t>
                </a:r>
                <a:r>
                  <a:rPr lang="fr-FR" sz="1400" dirty="0" err="1"/>
                  <a:t>priority</a:t>
                </a:r>
                <a:r>
                  <a:rPr lang="fr-FR" sz="1400" dirty="0"/>
                  <a:t> application per </a:t>
                </a:r>
                <a:r>
                  <a:rPr lang="fr-FR" sz="1400" dirty="0" err="1"/>
                  <a:t>priority</a:t>
                </a:r>
                <a:r>
                  <a:rPr lang="fr-FR" sz="1400" dirty="0"/>
                  <a:t> </a:t>
                </a:r>
                <a:r>
                  <a:rPr lang="fr-FR" sz="1400" dirty="0" err="1"/>
                  <a:t>year</a:t>
                </a:r>
                <a:r>
                  <a:rPr lang="fr-FR" sz="1400" dirty="0"/>
                  <a:t> for the </a:t>
                </a:r>
                <a:r>
                  <a:rPr lang="fr-FR" sz="1400" dirty="0" err="1"/>
                  <a:t>period</a:t>
                </a:r>
                <a:r>
                  <a:rPr lang="fr-FR" sz="1400" dirty="0"/>
                  <a:t> 1990 to 2026</a:t>
                </a:r>
                <a:endParaRPr lang="en-GB" sz="1400" dirty="0"/>
              </a:p>
            </p:txBody>
          </p:sp>
          <p:grpSp>
            <p:nvGrpSpPr>
              <p:cNvPr id="134" name="Group 133">
                <a:extLst>
                  <a:ext uri="{FF2B5EF4-FFF2-40B4-BE49-F238E27FC236}">
                    <a16:creationId xmlns:a16="http://schemas.microsoft.com/office/drawing/2014/main" id="{C450E027-22C3-ED1A-A148-65C48C1C1BF7}"/>
                  </a:ext>
                </a:extLst>
              </p:cNvPr>
              <p:cNvGrpSpPr/>
              <p:nvPr/>
            </p:nvGrpSpPr>
            <p:grpSpPr>
              <a:xfrm>
                <a:off x="1098366" y="3795739"/>
                <a:ext cx="5162861" cy="335375"/>
                <a:chOff x="945966" y="3643339"/>
                <a:chExt cx="5162861" cy="335375"/>
              </a:xfrm>
            </p:grpSpPr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E95A9BB9-BE44-85DA-D042-1C00AC3A6B26}"/>
                    </a:ext>
                  </a:extLst>
                </p:cNvPr>
                <p:cNvSpPr txBox="1"/>
                <p:nvPr/>
              </p:nvSpPr>
              <p:spPr>
                <a:xfrm>
                  <a:off x="945966" y="3646098"/>
                  <a:ext cx="55015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400" dirty="0"/>
                    <a:t>1996</a:t>
                  </a:r>
                  <a:endParaRPr lang="en-GB" sz="1400" dirty="0"/>
                </a:p>
              </p:txBody>
            </p:sp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9471FF3A-7399-77EC-1FD7-DAA48B0798CB}"/>
                    </a:ext>
                  </a:extLst>
                </p:cNvPr>
                <p:cNvSpPr txBox="1"/>
                <p:nvPr/>
              </p:nvSpPr>
              <p:spPr>
                <a:xfrm>
                  <a:off x="1737359" y="3643339"/>
                  <a:ext cx="55015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400" dirty="0"/>
                    <a:t>2000</a:t>
                  </a:r>
                  <a:endParaRPr lang="en-GB" sz="1400" dirty="0"/>
                </a:p>
              </p:txBody>
            </p:sp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B42EB17A-DBA6-C2D5-9F3E-1AC0F3855607}"/>
                    </a:ext>
                  </a:extLst>
                </p:cNvPr>
                <p:cNvSpPr txBox="1"/>
                <p:nvPr/>
              </p:nvSpPr>
              <p:spPr>
                <a:xfrm>
                  <a:off x="2372743" y="3658583"/>
                  <a:ext cx="55015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400" dirty="0"/>
                    <a:t>2004</a:t>
                  </a:r>
                  <a:endParaRPr lang="en-GB" sz="1400" dirty="0"/>
                </a:p>
              </p:txBody>
            </p:sp>
            <p:sp>
              <p:nvSpPr>
                <p:cNvPr id="138" name="TextBox 137">
                  <a:extLst>
                    <a:ext uri="{FF2B5EF4-FFF2-40B4-BE49-F238E27FC236}">
                      <a16:creationId xmlns:a16="http://schemas.microsoft.com/office/drawing/2014/main" id="{5E3910F6-CA73-6EED-0F2A-F75C9F91BE1E}"/>
                    </a:ext>
                  </a:extLst>
                </p:cNvPr>
                <p:cNvSpPr txBox="1"/>
                <p:nvPr/>
              </p:nvSpPr>
              <p:spPr>
                <a:xfrm>
                  <a:off x="2995208" y="3658583"/>
                  <a:ext cx="55015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400" dirty="0"/>
                    <a:t>2008</a:t>
                  </a:r>
                  <a:endParaRPr lang="en-GB" sz="1400" dirty="0"/>
                </a:p>
              </p:txBody>
            </p:sp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2AB0FFF0-A055-FC76-D1C4-05EBDF56AFFD}"/>
                    </a:ext>
                  </a:extLst>
                </p:cNvPr>
                <p:cNvSpPr txBox="1"/>
                <p:nvPr/>
              </p:nvSpPr>
              <p:spPr>
                <a:xfrm>
                  <a:off x="3641384" y="3670937"/>
                  <a:ext cx="55015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400" dirty="0"/>
                    <a:t>2012</a:t>
                  </a:r>
                  <a:endParaRPr lang="en-GB" sz="1400" dirty="0"/>
                </a:p>
              </p:txBody>
            </p:sp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E037F4E5-37BB-93CC-D913-D58B1B3F9DA0}"/>
                    </a:ext>
                  </a:extLst>
                </p:cNvPr>
                <p:cNvSpPr txBox="1"/>
                <p:nvPr/>
              </p:nvSpPr>
              <p:spPr>
                <a:xfrm>
                  <a:off x="4283330" y="3669216"/>
                  <a:ext cx="55015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400" dirty="0"/>
                    <a:t>2016</a:t>
                  </a:r>
                  <a:endParaRPr lang="en-GB" sz="1400" dirty="0"/>
                </a:p>
              </p:txBody>
            </p:sp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64AE7C0A-320C-F21F-7EB9-BE79E9B5B93E}"/>
                    </a:ext>
                  </a:extLst>
                </p:cNvPr>
                <p:cNvSpPr txBox="1"/>
                <p:nvPr/>
              </p:nvSpPr>
              <p:spPr>
                <a:xfrm>
                  <a:off x="4916730" y="3666146"/>
                  <a:ext cx="55015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400" dirty="0"/>
                    <a:t>2020</a:t>
                  </a:r>
                  <a:endParaRPr lang="en-GB" sz="1400" dirty="0"/>
                </a:p>
              </p:txBody>
            </p:sp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F49ABE9C-AB5C-AEFE-1ED6-2520317C0B68}"/>
                    </a:ext>
                  </a:extLst>
                </p:cNvPr>
                <p:cNvSpPr txBox="1"/>
                <p:nvPr/>
              </p:nvSpPr>
              <p:spPr>
                <a:xfrm>
                  <a:off x="5558676" y="3666146"/>
                  <a:ext cx="55015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400" dirty="0"/>
                    <a:t>2024</a:t>
                  </a:r>
                  <a:endParaRPr lang="en-GB" sz="1400" dirty="0"/>
                </a:p>
              </p:txBody>
            </p:sp>
          </p:grpSp>
        </p:grp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BEE24332-B5A5-41FA-01E3-7AD9044A0C6D}"/>
                </a:ext>
              </a:extLst>
            </p:cNvPr>
            <p:cNvSpPr/>
            <p:nvPr/>
          </p:nvSpPr>
          <p:spPr>
            <a:xfrm>
              <a:off x="5833830" y="1530787"/>
              <a:ext cx="339010" cy="2104503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52" name="Rectangle 151">
            <a:extLst>
              <a:ext uri="{FF2B5EF4-FFF2-40B4-BE49-F238E27FC236}">
                <a16:creationId xmlns:a16="http://schemas.microsoft.com/office/drawing/2014/main" id="{8C17D9C3-D197-CD51-829E-3CB8750EAC32}"/>
              </a:ext>
            </a:extLst>
          </p:cNvPr>
          <p:cNvSpPr/>
          <p:nvPr/>
        </p:nvSpPr>
        <p:spPr>
          <a:xfrm>
            <a:off x="8160973" y="1096564"/>
            <a:ext cx="2348752" cy="2290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98964568-7171-9381-BC24-AE868B7FDE5C}"/>
              </a:ext>
            </a:extLst>
          </p:cNvPr>
          <p:cNvGrpSpPr/>
          <p:nvPr/>
        </p:nvGrpSpPr>
        <p:grpSpPr>
          <a:xfrm>
            <a:off x="5971509" y="974716"/>
            <a:ext cx="6052125" cy="3085365"/>
            <a:chOff x="6117817" y="3015424"/>
            <a:chExt cx="5921072" cy="2908999"/>
          </a:xfrm>
        </p:grpSpPr>
        <p:pic>
          <p:nvPicPr>
            <p:cNvPr id="149" name="Picture 148">
              <a:extLst>
                <a:ext uri="{FF2B5EF4-FFF2-40B4-BE49-F238E27FC236}">
                  <a16:creationId xmlns:a16="http://schemas.microsoft.com/office/drawing/2014/main" id="{DBC6569E-AD44-EA90-AC86-CE89057FE5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7817" y="3015424"/>
              <a:ext cx="5921072" cy="2908999"/>
            </a:xfrm>
            <a:prstGeom prst="rect">
              <a:avLst/>
            </a:prstGeom>
          </p:spPr>
        </p:pic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D8656A15-0626-CA72-E438-5F0D5DC22155}"/>
                </a:ext>
              </a:extLst>
            </p:cNvPr>
            <p:cNvSpPr/>
            <p:nvPr/>
          </p:nvSpPr>
          <p:spPr>
            <a:xfrm>
              <a:off x="8048847" y="3021373"/>
              <a:ext cx="2046281" cy="2077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59" name="TextBox 158">
            <a:extLst>
              <a:ext uri="{FF2B5EF4-FFF2-40B4-BE49-F238E27FC236}">
                <a16:creationId xmlns:a16="http://schemas.microsoft.com/office/drawing/2014/main" id="{09649CC1-CB68-966E-CCA0-E685FFC59933}"/>
              </a:ext>
            </a:extLst>
          </p:cNvPr>
          <p:cNvSpPr txBox="1"/>
          <p:nvPr/>
        </p:nvSpPr>
        <p:spPr>
          <a:xfrm>
            <a:off x="7610643" y="937320"/>
            <a:ext cx="33900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Top 5 </a:t>
            </a:r>
            <a:r>
              <a:rPr lang="fr-FR" sz="1400" dirty="0" err="1"/>
              <a:t>Assignees</a:t>
            </a:r>
            <a:r>
              <a:rPr lang="fr-FR" sz="1400" dirty="0"/>
              <a:t> for the </a:t>
            </a:r>
            <a:r>
              <a:rPr lang="fr-FR" sz="1400" dirty="0" err="1"/>
              <a:t>period</a:t>
            </a:r>
            <a:r>
              <a:rPr lang="fr-FR" sz="1400" dirty="0"/>
              <a:t> 2001 to 2026</a:t>
            </a:r>
            <a:endParaRPr lang="en-GB" sz="1400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7AE3BA9-CBE4-C0E0-8380-DAF5C42A7FF5}"/>
              </a:ext>
            </a:extLst>
          </p:cNvPr>
          <p:cNvSpPr txBox="1"/>
          <p:nvPr/>
        </p:nvSpPr>
        <p:spPr>
          <a:xfrm>
            <a:off x="6275575" y="1611744"/>
            <a:ext cx="25587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© </a:t>
            </a:r>
            <a:r>
              <a:rPr lang="fr-FR" sz="1000" dirty="0" err="1"/>
              <a:t>TechnoGenesis</a:t>
            </a:r>
            <a:r>
              <a:rPr lang="fr-FR" sz="1000" dirty="0"/>
              <a:t> – </a:t>
            </a:r>
            <a:r>
              <a:rPr lang="fr-FR" sz="1000" dirty="0" err="1"/>
              <a:t>Minesoft</a:t>
            </a:r>
            <a:r>
              <a:rPr lang="fr-FR" sz="1000" dirty="0"/>
              <a:t> Origin July 2026</a:t>
            </a:r>
            <a:endParaRPr lang="en-GB" sz="1000" dirty="0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99CA41A5-4AC1-7F1F-5026-AC11FC676973}"/>
              </a:ext>
            </a:extLst>
          </p:cNvPr>
          <p:cNvSpPr/>
          <p:nvPr/>
        </p:nvSpPr>
        <p:spPr>
          <a:xfrm>
            <a:off x="11383544" y="1201394"/>
            <a:ext cx="547511" cy="2454106"/>
          </a:xfrm>
          <a:prstGeom prst="rect">
            <a:avLst/>
          </a:prstGeom>
          <a:solidFill>
            <a:schemeClr val="accent1">
              <a:lumMod val="20000"/>
              <a:lumOff val="80000"/>
              <a:alpha val="7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D106FC13-58FD-9F69-FCF8-9CD4FEB32FD7}"/>
              </a:ext>
            </a:extLst>
          </p:cNvPr>
          <p:cNvGrpSpPr/>
          <p:nvPr/>
        </p:nvGrpSpPr>
        <p:grpSpPr>
          <a:xfrm>
            <a:off x="6989003" y="3665513"/>
            <a:ext cx="4665033" cy="341096"/>
            <a:chOff x="7203361" y="3546178"/>
            <a:chExt cx="4665033" cy="341096"/>
          </a:xfrm>
        </p:grpSpPr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968359AE-3E99-2D26-9E2E-D48730E771D9}"/>
                </a:ext>
              </a:extLst>
            </p:cNvPr>
            <p:cNvSpPr txBox="1"/>
            <p:nvPr/>
          </p:nvSpPr>
          <p:spPr>
            <a:xfrm>
              <a:off x="11320882" y="3579497"/>
              <a:ext cx="5475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/>
                <a:t>2024</a:t>
              </a:r>
              <a:endParaRPr lang="en-GB" sz="1400" dirty="0"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9FEB6C54-7323-C659-B848-F4C886A28AA9}"/>
                </a:ext>
              </a:extLst>
            </p:cNvPr>
            <p:cNvSpPr txBox="1"/>
            <p:nvPr/>
          </p:nvSpPr>
          <p:spPr>
            <a:xfrm>
              <a:off x="9936571" y="3563613"/>
              <a:ext cx="5475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/>
                <a:t>2018</a:t>
              </a:r>
              <a:endParaRPr lang="en-GB" sz="1400" dirty="0"/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5D2BA2B0-4344-57DA-3E7B-C10FCB8C1C0D}"/>
                </a:ext>
              </a:extLst>
            </p:cNvPr>
            <p:cNvSpPr txBox="1"/>
            <p:nvPr/>
          </p:nvSpPr>
          <p:spPr>
            <a:xfrm>
              <a:off x="8574934" y="3546178"/>
              <a:ext cx="5475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/>
                <a:t>2012</a:t>
              </a:r>
              <a:endParaRPr lang="en-GB" sz="1400" dirty="0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1A6971A2-6FF6-0C03-784D-80B28C1D7E32}"/>
                </a:ext>
              </a:extLst>
            </p:cNvPr>
            <p:cNvSpPr txBox="1"/>
            <p:nvPr/>
          </p:nvSpPr>
          <p:spPr>
            <a:xfrm>
              <a:off x="7203361" y="3578199"/>
              <a:ext cx="5475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/>
                <a:t>2006</a:t>
              </a:r>
              <a:endParaRPr lang="en-GB" sz="1400" dirty="0"/>
            </a:p>
          </p:txBody>
        </p: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E4A33B45-EFD8-8095-D6C0-EA44198FC69A}"/>
              </a:ext>
            </a:extLst>
          </p:cNvPr>
          <p:cNvGrpSpPr/>
          <p:nvPr/>
        </p:nvGrpSpPr>
        <p:grpSpPr>
          <a:xfrm>
            <a:off x="-3592286" y="-3069771"/>
            <a:ext cx="20795726" cy="11899798"/>
            <a:chOff x="-1238250" y="70813"/>
            <a:chExt cx="14668500" cy="6582648"/>
          </a:xfrm>
          <a:scene3d>
            <a:camera prst="orthographicFront">
              <a:rot lat="0" lon="0" rev="1800000"/>
            </a:camera>
            <a:lightRig rig="threePt" dir="t"/>
          </a:scene3d>
        </p:grpSpPr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659EBFB0-6F8B-F010-E2B9-C12F906A6F65}"/>
                </a:ext>
              </a:extLst>
            </p:cNvPr>
            <p:cNvGrpSpPr/>
            <p:nvPr userDrawn="1"/>
          </p:nvGrpSpPr>
          <p:grpSpPr>
            <a:xfrm>
              <a:off x="-1238250" y="2825520"/>
              <a:ext cx="14668500" cy="410394"/>
              <a:chOff x="-685800" y="2956303"/>
              <a:chExt cx="14668500" cy="410394"/>
            </a:xfrm>
          </p:grpSpPr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FB74ED90-7982-723C-9A93-4FFABC9AAF9D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2F7D3049-4250-DD90-DF84-4588DAAE4A75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78582BF1-8AF3-C3B2-48DA-CAA99822F9CA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3C09B753-AD60-22A6-44ED-BC4F36388DDE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72CE1AE2-6D6B-9AFD-A22C-77B2804E4F70}"/>
                </a:ext>
              </a:extLst>
            </p:cNvPr>
            <p:cNvGrpSpPr/>
            <p:nvPr userDrawn="1"/>
          </p:nvGrpSpPr>
          <p:grpSpPr>
            <a:xfrm>
              <a:off x="-1238250" y="3710392"/>
              <a:ext cx="14668500" cy="410394"/>
              <a:chOff x="-685800" y="2956303"/>
              <a:chExt cx="14668500" cy="410394"/>
            </a:xfrm>
          </p:grpSpPr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516C0E90-B91E-F16A-B3C1-9A2F519ADD66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5C1895B6-779D-A43C-6CF8-DA871FB9DD0C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CA0C635D-534A-839A-8E1A-B2A0D354ED4A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0F21F942-2623-80CE-3DC1-023148501154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01E38FDD-151B-191C-5B5F-2345263306BE}"/>
                </a:ext>
              </a:extLst>
            </p:cNvPr>
            <p:cNvGrpSpPr/>
            <p:nvPr userDrawn="1"/>
          </p:nvGrpSpPr>
          <p:grpSpPr>
            <a:xfrm>
              <a:off x="-1238250" y="4583102"/>
              <a:ext cx="14668500" cy="410394"/>
              <a:chOff x="-685800" y="2956303"/>
              <a:chExt cx="14668500" cy="410394"/>
            </a:xfrm>
          </p:grpSpPr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F84427B4-484A-630A-0D1E-E3652B87D91D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BB489E6F-8609-5043-E531-12F427CBADBC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6E0EF5E4-B968-A119-8E0E-1746E01062DA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EE4FC8E6-5A0B-1F4C-FFF9-3F66596B16D9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A200D063-2BEC-5D08-44E9-E7A86977B815}"/>
                </a:ext>
              </a:extLst>
            </p:cNvPr>
            <p:cNvGrpSpPr/>
            <p:nvPr userDrawn="1"/>
          </p:nvGrpSpPr>
          <p:grpSpPr>
            <a:xfrm>
              <a:off x="-1238250" y="5467974"/>
              <a:ext cx="14668500" cy="410394"/>
              <a:chOff x="-685800" y="2956303"/>
              <a:chExt cx="14668500" cy="410394"/>
            </a:xfrm>
          </p:grpSpPr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9AF56BAB-EC6C-F23A-AF66-B119AC04276E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D99F3D48-C307-AA7E-D877-296984E9D380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20F0C91F-42C4-E08E-0A6C-8D11DA2509E4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58900D29-1596-EF05-6D43-ADC5F2E77643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F3BAFDE0-5E1A-E61C-0F5C-A703D3F39C83}"/>
                </a:ext>
              </a:extLst>
            </p:cNvPr>
            <p:cNvGrpSpPr/>
            <p:nvPr userDrawn="1"/>
          </p:nvGrpSpPr>
          <p:grpSpPr>
            <a:xfrm>
              <a:off x="-1238250" y="1859650"/>
              <a:ext cx="14668500" cy="410394"/>
              <a:chOff x="-685800" y="2956303"/>
              <a:chExt cx="14668500" cy="410394"/>
            </a:xfrm>
          </p:grpSpPr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F87D5D09-4626-57F9-7996-ED0D5BB4F2CF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662347EE-C437-89B8-1EE3-334E4CE6ECAF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FAEA7DB7-27F4-B443-AFCF-99C121276C81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D1A2A8E9-8150-B55D-AB7F-1456B6A5FA95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8722D121-2F16-B476-5823-544EF815665C}"/>
                </a:ext>
              </a:extLst>
            </p:cNvPr>
            <p:cNvGrpSpPr/>
            <p:nvPr userDrawn="1"/>
          </p:nvGrpSpPr>
          <p:grpSpPr>
            <a:xfrm>
              <a:off x="-1238250" y="70813"/>
              <a:ext cx="14668500" cy="410394"/>
              <a:chOff x="-685800" y="2956303"/>
              <a:chExt cx="14668500" cy="410394"/>
            </a:xfrm>
          </p:grpSpPr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112FB01A-3A45-88B0-21E8-36F4074A5643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2F614ED3-DC9B-56B9-E950-3E4D699233DE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71B27DA3-29A8-B21B-A00D-2F825FEDE4C8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7F4565E4-40FE-0A69-5FBC-C6B3C5267F95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1F277434-2F06-93DF-F229-BFBD055C597F}"/>
                </a:ext>
              </a:extLst>
            </p:cNvPr>
            <p:cNvGrpSpPr/>
            <p:nvPr userDrawn="1"/>
          </p:nvGrpSpPr>
          <p:grpSpPr>
            <a:xfrm>
              <a:off x="-1238250" y="949927"/>
              <a:ext cx="14668500" cy="410394"/>
              <a:chOff x="-685800" y="2956303"/>
              <a:chExt cx="14668500" cy="410394"/>
            </a:xfrm>
          </p:grpSpPr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21F7F962-24AA-321E-C17D-97BFFF6CEE10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ADB1BD57-09E6-39A2-A1ED-38779448EA14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844413C9-3DE7-8A43-E868-9CD8F7101DAF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0BB98DB2-D18E-12D6-4120-3DFDF09F27B7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DFC7B56E-4FD4-2E6F-D4CF-CE5E6E3D9E18}"/>
                </a:ext>
              </a:extLst>
            </p:cNvPr>
            <p:cNvGrpSpPr/>
            <p:nvPr userDrawn="1"/>
          </p:nvGrpSpPr>
          <p:grpSpPr>
            <a:xfrm>
              <a:off x="-1238250" y="6243067"/>
              <a:ext cx="14668500" cy="410394"/>
              <a:chOff x="-685800" y="2956303"/>
              <a:chExt cx="14668500" cy="410394"/>
            </a:xfrm>
          </p:grpSpPr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DEE13608-CCE6-D32B-ED2D-6E5BF22ADBB8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0F471844-1855-F611-5661-0DB4A8859816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B3C0B343-56D6-45CA-E094-10A8F968CFE8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F651E128-88FB-8854-6979-9BCDBACC6FEC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D2F0C53-B5A8-F39F-4206-262895D753F8}"/>
              </a:ext>
            </a:extLst>
          </p:cNvPr>
          <p:cNvGrpSpPr/>
          <p:nvPr/>
        </p:nvGrpSpPr>
        <p:grpSpPr>
          <a:xfrm>
            <a:off x="-428506" y="6388535"/>
            <a:ext cx="4114800" cy="422069"/>
            <a:chOff x="2436266" y="6394843"/>
            <a:chExt cx="4114800" cy="42206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462C36C-5532-25D2-427E-2D3BE8A07D7C}"/>
                </a:ext>
              </a:extLst>
            </p:cNvPr>
            <p:cNvSpPr/>
            <p:nvPr/>
          </p:nvSpPr>
          <p:spPr>
            <a:xfrm>
              <a:off x="3440863" y="6451787"/>
              <a:ext cx="1894114" cy="365125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Footer Placeholder 4">
              <a:extLst>
                <a:ext uri="{FF2B5EF4-FFF2-40B4-BE49-F238E27FC236}">
                  <a16:creationId xmlns:a16="http://schemas.microsoft.com/office/drawing/2014/main" id="{7D2B7FD8-11F4-06C7-09CA-4B542E702A86}"/>
                </a:ext>
              </a:extLst>
            </p:cNvPr>
            <p:cNvSpPr txBox="1">
              <a:spLocks/>
            </p:cNvSpPr>
            <p:nvPr/>
          </p:nvSpPr>
          <p:spPr>
            <a:xfrm>
              <a:off x="2436266" y="6394843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© 2026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</a:rPr>
                <a:t>TechnoGenesis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. All rights reserved</a:t>
              </a:r>
              <a:endParaRPr lang="en-GB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3479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4EBEF-6A13-9637-85F5-4EAC973EB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7C8064-4F73-57D3-F5C1-9F20F97D27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74928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1B9137F4-BB40-692D-DEAF-1E7676F1C41C}"/>
              </a:ext>
            </a:extLst>
          </p:cNvPr>
          <p:cNvSpPr/>
          <p:nvPr/>
        </p:nvSpPr>
        <p:spPr>
          <a:xfrm>
            <a:off x="-75283" y="247767"/>
            <a:ext cx="3365508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Optical coherence Tomography</a:t>
            </a:r>
            <a:endParaRPr lang="en-US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8FD06EA-928B-DBCB-7240-15DCDC2E77CC}"/>
              </a:ext>
            </a:extLst>
          </p:cNvPr>
          <p:cNvSpPr/>
          <p:nvPr/>
        </p:nvSpPr>
        <p:spPr>
          <a:xfrm>
            <a:off x="4249268" y="222053"/>
            <a:ext cx="322889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b="1" dirty="0">
                <a:ln/>
                <a:solidFill>
                  <a:schemeClr val="accent1">
                    <a:lumMod val="75000"/>
                  </a:schemeClr>
                </a:solidFill>
              </a:rPr>
              <a:t>Geographical cover (find better)</a:t>
            </a:r>
            <a:endParaRPr lang="en-US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9D1CDC3-2096-7A09-8136-C990E8627E77}"/>
              </a:ext>
            </a:extLst>
          </p:cNvPr>
          <p:cNvSpPr/>
          <p:nvPr/>
        </p:nvSpPr>
        <p:spPr>
          <a:xfrm>
            <a:off x="9934574" y="1801505"/>
            <a:ext cx="1685925" cy="282764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US dominates, over the 2</a:t>
            </a:r>
            <a:r>
              <a:rPr lang="en-US" baseline="30000" dirty="0"/>
              <a:t>nd</a:t>
            </a:r>
            <a:r>
              <a:rPr lang="en-US" dirty="0"/>
              <a:t> China by more than 60%, followed closely by 3</a:t>
            </a:r>
            <a:r>
              <a:rPr lang="en-US" baseline="30000" dirty="0"/>
              <a:t>rd</a:t>
            </a:r>
            <a:r>
              <a:rPr lang="en-US" dirty="0"/>
              <a:t> Japan. </a:t>
            </a: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E6CF87E7-D1EF-C07F-14C5-27117ABA6A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1" r="7995"/>
          <a:stretch>
            <a:fillRect/>
          </a:stretch>
        </p:blipFill>
        <p:spPr>
          <a:xfrm>
            <a:off x="154641" y="617099"/>
            <a:ext cx="9217932" cy="5381483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D927ADFD-A56C-0918-1A29-84CA316278AD}"/>
              </a:ext>
            </a:extLst>
          </p:cNvPr>
          <p:cNvSpPr txBox="1"/>
          <p:nvPr/>
        </p:nvSpPr>
        <p:spPr>
          <a:xfrm>
            <a:off x="3697741" y="5075313"/>
            <a:ext cx="25587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© </a:t>
            </a:r>
            <a:r>
              <a:rPr lang="fr-FR" sz="1000" dirty="0" err="1"/>
              <a:t>TechnoGenesis</a:t>
            </a:r>
            <a:r>
              <a:rPr lang="fr-FR" sz="1000" dirty="0"/>
              <a:t> – </a:t>
            </a:r>
            <a:r>
              <a:rPr lang="fr-FR" sz="1000" dirty="0" err="1"/>
              <a:t>Minesoft</a:t>
            </a:r>
            <a:r>
              <a:rPr lang="fr-FR" sz="1000" dirty="0"/>
              <a:t> Origin July 2026</a:t>
            </a:r>
            <a:endParaRPr lang="en-GB" sz="10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779CFFB-4B70-E02E-C41E-0BF715F6027D}"/>
              </a:ext>
            </a:extLst>
          </p:cNvPr>
          <p:cNvSpPr/>
          <p:nvPr/>
        </p:nvSpPr>
        <p:spPr>
          <a:xfrm>
            <a:off x="4448175" y="828675"/>
            <a:ext cx="685800" cy="1238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3DCFF42-D5B0-9927-1ACE-970F8E4A69AB}"/>
              </a:ext>
            </a:extLst>
          </p:cNvPr>
          <p:cNvGrpSpPr/>
          <p:nvPr/>
        </p:nvGrpSpPr>
        <p:grpSpPr>
          <a:xfrm>
            <a:off x="-449929" y="6419934"/>
            <a:ext cx="4114800" cy="422069"/>
            <a:chOff x="2436266" y="6394843"/>
            <a:chExt cx="4114800" cy="42206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2E05724-C51E-CFB8-1224-758FC623A717}"/>
                </a:ext>
              </a:extLst>
            </p:cNvPr>
            <p:cNvSpPr/>
            <p:nvPr/>
          </p:nvSpPr>
          <p:spPr>
            <a:xfrm>
              <a:off x="3440863" y="6451787"/>
              <a:ext cx="1894114" cy="365125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Footer Placeholder 4">
              <a:extLst>
                <a:ext uri="{FF2B5EF4-FFF2-40B4-BE49-F238E27FC236}">
                  <a16:creationId xmlns:a16="http://schemas.microsoft.com/office/drawing/2014/main" id="{B7761329-2B99-A87C-10FA-809077C3D7F0}"/>
                </a:ext>
              </a:extLst>
            </p:cNvPr>
            <p:cNvSpPr txBox="1">
              <a:spLocks/>
            </p:cNvSpPr>
            <p:nvPr/>
          </p:nvSpPr>
          <p:spPr>
            <a:xfrm>
              <a:off x="2436266" y="6394843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© 2026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</a:rPr>
                <a:t>TechnoGenesis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. All rights reserved</a:t>
              </a:r>
              <a:endParaRPr lang="en-GB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304D8B4-8264-C37F-93A4-2773C597A177}"/>
              </a:ext>
            </a:extLst>
          </p:cNvPr>
          <p:cNvGrpSpPr/>
          <p:nvPr/>
        </p:nvGrpSpPr>
        <p:grpSpPr>
          <a:xfrm>
            <a:off x="-3592286" y="-3069771"/>
            <a:ext cx="20795726" cy="11899798"/>
            <a:chOff x="-1238250" y="70813"/>
            <a:chExt cx="14668500" cy="6582648"/>
          </a:xfrm>
          <a:scene3d>
            <a:camera prst="orthographicFront">
              <a:rot lat="0" lon="0" rev="1800000"/>
            </a:camera>
            <a:lightRig rig="threePt" dir="t"/>
          </a:scene3d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F2C40C4-F229-531D-B241-801154D16A39}"/>
                </a:ext>
              </a:extLst>
            </p:cNvPr>
            <p:cNvGrpSpPr/>
            <p:nvPr userDrawn="1"/>
          </p:nvGrpSpPr>
          <p:grpSpPr>
            <a:xfrm>
              <a:off x="-1238250" y="2825520"/>
              <a:ext cx="14668500" cy="410394"/>
              <a:chOff x="-685800" y="2956303"/>
              <a:chExt cx="14668500" cy="410394"/>
            </a:xfrm>
          </p:grpSpPr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F4C279C-DDEC-FF16-7FF7-972CE0551D9B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FFFC093A-21FF-A24C-B7B4-BAA992A6C906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1F6AB675-2CC5-9F97-D5FC-3D7C890516D6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D6B62F41-2F5E-7035-39A1-549E37CE97AF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6C5F131-BE10-8D5B-AC3D-F24C51DAC65E}"/>
                </a:ext>
              </a:extLst>
            </p:cNvPr>
            <p:cNvGrpSpPr/>
            <p:nvPr userDrawn="1"/>
          </p:nvGrpSpPr>
          <p:grpSpPr>
            <a:xfrm>
              <a:off x="-1238250" y="3710392"/>
              <a:ext cx="14668500" cy="410394"/>
              <a:chOff x="-685800" y="2956303"/>
              <a:chExt cx="14668500" cy="410394"/>
            </a:xfrm>
          </p:grpSpPr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F1B4396-6D2C-FF64-860F-FED3FEFF408A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E85ADF-2ADF-12E6-4F5C-3376A2B0F2DE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1F85E98-4615-7248-C5A0-39761F65EFE2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1E39D51-0A7A-7502-FC14-0236022718EA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0716553-DA4E-21CD-6DD0-168F94253BCB}"/>
                </a:ext>
              </a:extLst>
            </p:cNvPr>
            <p:cNvGrpSpPr/>
            <p:nvPr userDrawn="1"/>
          </p:nvGrpSpPr>
          <p:grpSpPr>
            <a:xfrm>
              <a:off x="-1238250" y="4583102"/>
              <a:ext cx="14668500" cy="410394"/>
              <a:chOff x="-685800" y="2956303"/>
              <a:chExt cx="14668500" cy="410394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9A10E92-254D-876A-181D-2B3750E0CF89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8494291-0972-0512-1554-8BA6BFB62111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5F50890-BA1D-3DF7-BB1C-1DE6A6728BD3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28BAF69-E740-5C74-D650-6D38A16CECA4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7DED28A-3B76-DEAC-67BB-41D9A8CC8EC6}"/>
                </a:ext>
              </a:extLst>
            </p:cNvPr>
            <p:cNvGrpSpPr/>
            <p:nvPr userDrawn="1"/>
          </p:nvGrpSpPr>
          <p:grpSpPr>
            <a:xfrm>
              <a:off x="-1238250" y="5467974"/>
              <a:ext cx="14668500" cy="410394"/>
              <a:chOff x="-685800" y="2956303"/>
              <a:chExt cx="14668500" cy="410394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88F64A0-66C0-BA7F-FB36-2A890BC71E17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DCA741E-4B1E-16F0-E03B-7F98E63C6CDC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2446A20-67B6-BE76-5A0C-E953C28C60FA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D8F2D11-5702-7FB7-63E0-B0D748CD34BC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B0A63CD-AD51-A645-9765-C7E7259AF84C}"/>
                </a:ext>
              </a:extLst>
            </p:cNvPr>
            <p:cNvGrpSpPr/>
            <p:nvPr userDrawn="1"/>
          </p:nvGrpSpPr>
          <p:grpSpPr>
            <a:xfrm>
              <a:off x="-1238250" y="1859650"/>
              <a:ext cx="14668500" cy="410394"/>
              <a:chOff x="-685800" y="2956303"/>
              <a:chExt cx="14668500" cy="410394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459A66E-5F98-853E-5BD3-CB24F93233B5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63DDFCB-9C31-F81D-68CB-145148660CD2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1264D2B-BCD8-1B66-B783-67D2DDE948F1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C3CC85F-8D7A-8E65-E74F-0D1E3073A0AD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E5E87B4-3C81-27C4-9891-BD5E258E1CF7}"/>
                </a:ext>
              </a:extLst>
            </p:cNvPr>
            <p:cNvGrpSpPr/>
            <p:nvPr userDrawn="1"/>
          </p:nvGrpSpPr>
          <p:grpSpPr>
            <a:xfrm>
              <a:off x="-1238250" y="70813"/>
              <a:ext cx="14668500" cy="410394"/>
              <a:chOff x="-685800" y="2956303"/>
              <a:chExt cx="14668500" cy="410394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884C465-F21E-7C5B-6541-DF37D35896D8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9714AD8-EAE6-6D27-5A76-FBE4FC7AADA2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5E87F4B-432B-53DA-3E80-C3B202C3515B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259A419-C7F8-79A5-EDD1-BD6B3B921A2F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2D41BA88-F4BA-4AB2-F7BC-E61EB12BE82E}"/>
                </a:ext>
              </a:extLst>
            </p:cNvPr>
            <p:cNvGrpSpPr/>
            <p:nvPr userDrawn="1"/>
          </p:nvGrpSpPr>
          <p:grpSpPr>
            <a:xfrm>
              <a:off x="-1238250" y="949927"/>
              <a:ext cx="14668500" cy="410394"/>
              <a:chOff x="-685800" y="2956303"/>
              <a:chExt cx="14668500" cy="410394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E99BCC4-08C4-D7D3-21C2-65C0573FB9EB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540795F-5F96-EA7D-F1E4-1F89AE43B233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9D5ADA0-7DE0-C448-DD22-5BE11D5A249E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BAC9E8D-299B-01E0-7F20-FC49C586889B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A3DAA0F-019D-D6B0-6460-05433BDA6ABC}"/>
                </a:ext>
              </a:extLst>
            </p:cNvPr>
            <p:cNvGrpSpPr/>
            <p:nvPr userDrawn="1"/>
          </p:nvGrpSpPr>
          <p:grpSpPr>
            <a:xfrm>
              <a:off x="-1238250" y="6243067"/>
              <a:ext cx="14668500" cy="410394"/>
              <a:chOff x="-685800" y="2956303"/>
              <a:chExt cx="14668500" cy="410394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D1FAA73-F629-E362-818B-18750712BCAA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8978D47-099A-D588-F1F6-EF9ED08ECE4B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A228467-CBB4-712B-BB21-70AF76D64E78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D981AFF-CA51-4E59-A311-C6DA9F49906A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54879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B2161-128E-0B4C-D3A9-CF1381363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ABCEF4-7B12-13E5-46A4-1B32666CAE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4762"/>
            <a:ext cx="12172950" cy="684847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902C77BE-3A01-2719-18CD-8AA02916CFD5}"/>
              </a:ext>
            </a:extLst>
          </p:cNvPr>
          <p:cNvSpPr/>
          <p:nvPr/>
        </p:nvSpPr>
        <p:spPr>
          <a:xfrm>
            <a:off x="-79625" y="201696"/>
            <a:ext cx="3365508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Wearable Optical Biosensing</a:t>
            </a:r>
            <a:endParaRPr lang="en-US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7B7111-D079-9B10-5070-A1C0BB642691}"/>
              </a:ext>
            </a:extLst>
          </p:cNvPr>
          <p:cNvSpPr/>
          <p:nvPr/>
        </p:nvSpPr>
        <p:spPr>
          <a:xfrm>
            <a:off x="3274153" y="222053"/>
            <a:ext cx="517911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b="1" cap="none" spc="0" dirty="0">
                <a:ln/>
                <a:solidFill>
                  <a:schemeClr val="accent1">
                    <a:lumMod val="75000"/>
                  </a:schemeClr>
                </a:solidFill>
                <a:effectLst/>
              </a:rPr>
              <a:t>Number of families per priority year &amp; top assignees</a:t>
            </a:r>
            <a:endParaRPr lang="en-US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8352FD2-5F14-9EBE-58CD-4497F035B873}"/>
              </a:ext>
            </a:extLst>
          </p:cNvPr>
          <p:cNvSpPr/>
          <p:nvPr/>
        </p:nvSpPr>
        <p:spPr>
          <a:xfrm>
            <a:off x="624234" y="4228854"/>
            <a:ext cx="5239474" cy="113548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Double S-curve</a:t>
            </a:r>
            <a:r>
              <a:rPr lang="en-US" dirty="0">
                <a:solidFill>
                  <a:schemeClr val="tx1"/>
                </a:solidFill>
              </a:rPr>
              <a:t>: a first wave with the smartwatch / fitness-tracker (~2014–15) &amp; then a second acceleration from 2020 (health monitoring) which is attributed to the COVID era.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91F485-D40A-99EF-C359-7EB6AD0EC216}"/>
              </a:ext>
            </a:extLst>
          </p:cNvPr>
          <p:cNvSpPr/>
          <p:nvPr/>
        </p:nvSpPr>
        <p:spPr>
          <a:xfrm>
            <a:off x="1461247" y="3651445"/>
            <a:ext cx="2886635" cy="5261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E24AE30-67CB-C288-5E7B-2D4A6FB1FD8A}"/>
              </a:ext>
            </a:extLst>
          </p:cNvPr>
          <p:cNvGrpSpPr/>
          <p:nvPr/>
        </p:nvGrpSpPr>
        <p:grpSpPr>
          <a:xfrm>
            <a:off x="0" y="536067"/>
            <a:ext cx="6074117" cy="3206554"/>
            <a:chOff x="0" y="3651445"/>
            <a:chExt cx="6074117" cy="320655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CC52DB9-A886-6E0F-C743-D6D2FCF0C240}"/>
                </a:ext>
              </a:extLst>
            </p:cNvPr>
            <p:cNvGrpSpPr/>
            <p:nvPr/>
          </p:nvGrpSpPr>
          <p:grpSpPr>
            <a:xfrm>
              <a:off x="0" y="3651445"/>
              <a:ext cx="6021529" cy="3206554"/>
              <a:chOff x="0" y="3651445"/>
              <a:chExt cx="6021529" cy="3206554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1EF30395-D101-282D-9D97-4BEF681072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3899646"/>
                <a:ext cx="6021529" cy="2958353"/>
              </a:xfrm>
              <a:prstGeom prst="rect">
                <a:avLst/>
              </a:prstGeom>
            </p:spPr>
          </p:pic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3C1C7F8-9C64-4C40-805C-3FFAF6C33A8F}"/>
                  </a:ext>
                </a:extLst>
              </p:cNvPr>
              <p:cNvSpPr/>
              <p:nvPr/>
            </p:nvSpPr>
            <p:spPr>
              <a:xfrm>
                <a:off x="5571840" y="4326571"/>
                <a:ext cx="382022" cy="214881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D57160B-6F16-2FAD-A841-CA042BD8BDB6}"/>
                  </a:ext>
                </a:extLst>
              </p:cNvPr>
              <p:cNvSpPr/>
              <p:nvPr/>
            </p:nvSpPr>
            <p:spPr>
              <a:xfrm>
                <a:off x="1461247" y="3651445"/>
                <a:ext cx="2886635" cy="52610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E9CFE33-27F4-CCAE-9C56-8A8CCAE9A09F}"/>
                </a:ext>
              </a:extLst>
            </p:cNvPr>
            <p:cNvSpPr txBox="1"/>
            <p:nvPr/>
          </p:nvSpPr>
          <p:spPr>
            <a:xfrm>
              <a:off x="389163" y="3869776"/>
              <a:ext cx="56849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 err="1"/>
                <a:t>Number</a:t>
              </a:r>
              <a:r>
                <a:rPr lang="fr-FR" sz="1400" dirty="0"/>
                <a:t> of </a:t>
              </a:r>
              <a:r>
                <a:rPr lang="fr-FR" sz="1400" dirty="0" err="1"/>
                <a:t>priority</a:t>
              </a:r>
              <a:r>
                <a:rPr lang="fr-FR" sz="1400" dirty="0"/>
                <a:t> application per </a:t>
              </a:r>
              <a:r>
                <a:rPr lang="fr-FR" sz="1400" dirty="0" err="1"/>
                <a:t>priority</a:t>
              </a:r>
              <a:r>
                <a:rPr lang="fr-FR" sz="1400" dirty="0"/>
                <a:t> </a:t>
              </a:r>
              <a:r>
                <a:rPr lang="fr-FR" sz="1400" dirty="0" err="1"/>
                <a:t>year</a:t>
              </a:r>
              <a:r>
                <a:rPr lang="fr-FR" sz="1400" dirty="0"/>
                <a:t> for the </a:t>
              </a:r>
              <a:r>
                <a:rPr lang="fr-FR" sz="1400" dirty="0" err="1"/>
                <a:t>period</a:t>
              </a:r>
              <a:r>
                <a:rPr lang="fr-FR" sz="1400" dirty="0"/>
                <a:t> 1990 to 2026</a:t>
              </a:r>
              <a:endParaRPr lang="en-GB" sz="1400" dirty="0"/>
            </a:p>
          </p:txBody>
        </p: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F811F82-9103-73E9-D50F-887B0175C711}"/>
              </a:ext>
            </a:extLst>
          </p:cNvPr>
          <p:cNvCxnSpPr>
            <a:cxnSpLocks/>
          </p:cNvCxnSpPr>
          <p:nvPr/>
        </p:nvCxnSpPr>
        <p:spPr>
          <a:xfrm flipV="1">
            <a:off x="1348000" y="2669309"/>
            <a:ext cx="1883640" cy="479757"/>
          </a:xfrm>
          <a:prstGeom prst="line">
            <a:avLst/>
          </a:prstGeom>
          <a:ln w="34925">
            <a:solidFill>
              <a:schemeClr val="accent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747DA60-EFF2-B61A-6D35-ED6A3C33F147}"/>
              </a:ext>
            </a:extLst>
          </p:cNvPr>
          <p:cNvCxnSpPr>
            <a:cxnSpLocks/>
          </p:cNvCxnSpPr>
          <p:nvPr/>
        </p:nvCxnSpPr>
        <p:spPr>
          <a:xfrm flipV="1">
            <a:off x="3316448" y="1862172"/>
            <a:ext cx="906748" cy="819584"/>
          </a:xfrm>
          <a:prstGeom prst="line">
            <a:avLst/>
          </a:prstGeom>
          <a:ln w="34925">
            <a:solidFill>
              <a:schemeClr val="accent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313B7BC-1469-CC9E-3949-1B2B60224049}"/>
              </a:ext>
            </a:extLst>
          </p:cNvPr>
          <p:cNvCxnSpPr>
            <a:cxnSpLocks/>
          </p:cNvCxnSpPr>
          <p:nvPr/>
        </p:nvCxnSpPr>
        <p:spPr>
          <a:xfrm flipV="1">
            <a:off x="4176076" y="1752189"/>
            <a:ext cx="737669" cy="107432"/>
          </a:xfrm>
          <a:prstGeom prst="line">
            <a:avLst/>
          </a:prstGeom>
          <a:ln w="34925">
            <a:solidFill>
              <a:schemeClr val="accent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FFD95D2-6C8D-432F-F3BB-9F6AC740C923}"/>
              </a:ext>
            </a:extLst>
          </p:cNvPr>
          <p:cNvCxnSpPr>
            <a:cxnSpLocks/>
          </p:cNvCxnSpPr>
          <p:nvPr/>
        </p:nvCxnSpPr>
        <p:spPr>
          <a:xfrm flipV="1">
            <a:off x="4811052" y="1400211"/>
            <a:ext cx="205385" cy="402309"/>
          </a:xfrm>
          <a:prstGeom prst="line">
            <a:avLst/>
          </a:prstGeom>
          <a:ln w="34925">
            <a:solidFill>
              <a:schemeClr val="accent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2BB938B-1FC9-6623-CBDB-6E87879EC561}"/>
              </a:ext>
            </a:extLst>
          </p:cNvPr>
          <p:cNvCxnSpPr>
            <a:cxnSpLocks/>
          </p:cNvCxnSpPr>
          <p:nvPr/>
        </p:nvCxnSpPr>
        <p:spPr>
          <a:xfrm flipV="1">
            <a:off x="4982999" y="1225188"/>
            <a:ext cx="691533" cy="176330"/>
          </a:xfrm>
          <a:prstGeom prst="line">
            <a:avLst/>
          </a:prstGeom>
          <a:ln w="34925">
            <a:solidFill>
              <a:schemeClr val="accent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6F0F22E-AF34-03FB-6A7E-5AAE471BEE58}"/>
              </a:ext>
            </a:extLst>
          </p:cNvPr>
          <p:cNvSpPr txBox="1"/>
          <p:nvPr/>
        </p:nvSpPr>
        <p:spPr>
          <a:xfrm>
            <a:off x="2904294" y="2985207"/>
            <a:ext cx="25587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© </a:t>
            </a:r>
            <a:r>
              <a:rPr lang="fr-FR" sz="1000" dirty="0" err="1"/>
              <a:t>TechnoGenesis</a:t>
            </a:r>
            <a:r>
              <a:rPr lang="fr-FR" sz="1000" dirty="0"/>
              <a:t> – </a:t>
            </a:r>
            <a:r>
              <a:rPr lang="fr-FR" sz="1000" dirty="0" err="1"/>
              <a:t>Minesoft</a:t>
            </a:r>
            <a:r>
              <a:rPr lang="fr-FR" sz="1000" dirty="0"/>
              <a:t> Origin July 2026</a:t>
            </a:r>
            <a:endParaRPr lang="en-GB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99F128-2E05-6934-B439-964A11FDF844}"/>
              </a:ext>
            </a:extLst>
          </p:cNvPr>
          <p:cNvSpPr txBox="1"/>
          <p:nvPr/>
        </p:nvSpPr>
        <p:spPr>
          <a:xfrm>
            <a:off x="1531850" y="3372413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2000</a:t>
            </a:r>
            <a:endParaRPr lang="en-GB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DC8119-6BDB-0DF2-1E88-D4717B015BBC}"/>
              </a:ext>
            </a:extLst>
          </p:cNvPr>
          <p:cNvSpPr txBox="1"/>
          <p:nvPr/>
        </p:nvSpPr>
        <p:spPr>
          <a:xfrm>
            <a:off x="911096" y="3383447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1996</a:t>
            </a:r>
            <a:endParaRPr lang="en-GB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A3E1CE-11B9-0AAF-293A-3B7BE07CC1F1}"/>
              </a:ext>
            </a:extLst>
          </p:cNvPr>
          <p:cNvSpPr txBox="1"/>
          <p:nvPr/>
        </p:nvSpPr>
        <p:spPr>
          <a:xfrm>
            <a:off x="2152604" y="3372413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2004</a:t>
            </a:r>
            <a:endParaRPr lang="en-GB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2594F6-16EB-016D-72AB-69F4AF67E5AA}"/>
              </a:ext>
            </a:extLst>
          </p:cNvPr>
          <p:cNvSpPr txBox="1"/>
          <p:nvPr/>
        </p:nvSpPr>
        <p:spPr>
          <a:xfrm>
            <a:off x="2766297" y="3360006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2008</a:t>
            </a:r>
            <a:endParaRPr lang="en-GB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4A8291-00DD-5EB0-63B1-659A3DC44CE5}"/>
              </a:ext>
            </a:extLst>
          </p:cNvPr>
          <p:cNvSpPr txBox="1"/>
          <p:nvPr/>
        </p:nvSpPr>
        <p:spPr>
          <a:xfrm>
            <a:off x="3415936" y="3372413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2012</a:t>
            </a:r>
            <a:endParaRPr lang="en-GB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2F4AF3-ADE8-1973-A977-4DEC30D2953D}"/>
              </a:ext>
            </a:extLst>
          </p:cNvPr>
          <p:cNvSpPr txBox="1"/>
          <p:nvPr/>
        </p:nvSpPr>
        <p:spPr>
          <a:xfrm>
            <a:off x="4050895" y="3372413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2016</a:t>
            </a:r>
            <a:endParaRPr lang="en-GB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4EE8D7-B0F0-036E-9A3F-7FCB3A84F487}"/>
              </a:ext>
            </a:extLst>
          </p:cNvPr>
          <p:cNvSpPr txBox="1"/>
          <p:nvPr/>
        </p:nvSpPr>
        <p:spPr>
          <a:xfrm>
            <a:off x="4675432" y="3372412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2020</a:t>
            </a:r>
            <a:endParaRPr lang="en-GB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B6B16A-937F-83CE-F919-DE16D4623D0C}"/>
              </a:ext>
            </a:extLst>
          </p:cNvPr>
          <p:cNvSpPr txBox="1"/>
          <p:nvPr/>
        </p:nvSpPr>
        <p:spPr>
          <a:xfrm>
            <a:off x="5299969" y="3372412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2024</a:t>
            </a:r>
            <a:endParaRPr lang="en-GB" sz="1400" dirty="0"/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B804FC78-2A2B-0554-237B-30CD6DF02657}"/>
              </a:ext>
            </a:extLst>
          </p:cNvPr>
          <p:cNvGrpSpPr/>
          <p:nvPr/>
        </p:nvGrpSpPr>
        <p:grpSpPr>
          <a:xfrm>
            <a:off x="7108713" y="3406789"/>
            <a:ext cx="4487040" cy="329963"/>
            <a:chOff x="7073883" y="3374705"/>
            <a:chExt cx="4487040" cy="329963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A68986E7-9306-5C02-FC78-30E3E164063A}"/>
                </a:ext>
              </a:extLst>
            </p:cNvPr>
            <p:cNvSpPr txBox="1"/>
            <p:nvPr/>
          </p:nvSpPr>
          <p:spPr>
            <a:xfrm>
              <a:off x="11013411" y="3396891"/>
              <a:ext cx="5475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/>
                <a:t>2024</a:t>
              </a:r>
              <a:endParaRPr lang="en-GB" sz="1400" dirty="0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7DF21455-F573-71D3-E7DE-CBC2B43B5882}"/>
                </a:ext>
              </a:extLst>
            </p:cNvPr>
            <p:cNvSpPr txBox="1"/>
            <p:nvPr/>
          </p:nvSpPr>
          <p:spPr>
            <a:xfrm>
              <a:off x="9029145" y="3374705"/>
              <a:ext cx="5475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/>
                <a:t>2018</a:t>
              </a:r>
              <a:endParaRPr lang="en-GB" sz="1400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ED90F8D5-C200-B6B5-F738-88A58DDE1B5D}"/>
                </a:ext>
              </a:extLst>
            </p:cNvPr>
            <p:cNvSpPr txBox="1"/>
            <p:nvPr/>
          </p:nvSpPr>
          <p:spPr>
            <a:xfrm>
              <a:off x="7073883" y="3396773"/>
              <a:ext cx="5475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/>
                <a:t>2012</a:t>
              </a:r>
              <a:endParaRPr lang="en-GB" sz="1400" dirty="0"/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7D95FF43-B7C8-C5DF-F519-9B4832CFF584}"/>
              </a:ext>
            </a:extLst>
          </p:cNvPr>
          <p:cNvGrpSpPr/>
          <p:nvPr/>
        </p:nvGrpSpPr>
        <p:grpSpPr>
          <a:xfrm>
            <a:off x="5963387" y="748658"/>
            <a:ext cx="6201176" cy="3046612"/>
            <a:chOff x="5963387" y="748658"/>
            <a:chExt cx="6201176" cy="3046612"/>
          </a:xfrm>
        </p:grpSpPr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AA0BC8E0-F604-1695-E9CD-918942E2C0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63387" y="748658"/>
              <a:ext cx="6201176" cy="3046612"/>
            </a:xfrm>
            <a:prstGeom prst="rect">
              <a:avLst/>
            </a:prstGeom>
          </p:spPr>
        </p:pic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BC7C3EB8-F5FD-72D4-A547-EFC5910FE8B2}"/>
                </a:ext>
              </a:extLst>
            </p:cNvPr>
            <p:cNvSpPr/>
            <p:nvPr/>
          </p:nvSpPr>
          <p:spPr>
            <a:xfrm>
              <a:off x="7931888" y="754398"/>
              <a:ext cx="2275368" cy="2237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4F8E3C54-3968-CD1C-E51D-FCD4ABE06C07}"/>
              </a:ext>
            </a:extLst>
          </p:cNvPr>
          <p:cNvSpPr txBox="1"/>
          <p:nvPr/>
        </p:nvSpPr>
        <p:spPr>
          <a:xfrm>
            <a:off x="7382469" y="765789"/>
            <a:ext cx="33900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Top 5 </a:t>
            </a:r>
            <a:r>
              <a:rPr lang="fr-FR" sz="1400" dirty="0" err="1"/>
              <a:t>Assignees</a:t>
            </a:r>
            <a:r>
              <a:rPr lang="fr-FR" sz="1400" dirty="0"/>
              <a:t> for the </a:t>
            </a:r>
            <a:r>
              <a:rPr lang="fr-FR" sz="1400" dirty="0" err="1"/>
              <a:t>period</a:t>
            </a:r>
            <a:r>
              <a:rPr lang="fr-FR" sz="1400" dirty="0"/>
              <a:t> 2001 to 2026</a:t>
            </a:r>
            <a:endParaRPr lang="en-GB" sz="1400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097581A1-B5F1-B149-0B59-7B65328B6D37}"/>
              </a:ext>
            </a:extLst>
          </p:cNvPr>
          <p:cNvSpPr/>
          <p:nvPr/>
        </p:nvSpPr>
        <p:spPr>
          <a:xfrm>
            <a:off x="11296065" y="1091468"/>
            <a:ext cx="735107" cy="2278989"/>
          </a:xfrm>
          <a:prstGeom prst="rect">
            <a:avLst/>
          </a:prstGeom>
          <a:solidFill>
            <a:schemeClr val="accent1">
              <a:lumMod val="20000"/>
              <a:lumOff val="80000"/>
              <a:alpha val="7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A30F11DC-3544-E53D-0811-83E852F632BF}"/>
              </a:ext>
            </a:extLst>
          </p:cNvPr>
          <p:cNvSpPr/>
          <p:nvPr/>
        </p:nvSpPr>
        <p:spPr>
          <a:xfrm>
            <a:off x="6639073" y="4058991"/>
            <a:ext cx="4694164" cy="199487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accent1"/>
                </a:solidFill>
              </a:rPr>
              <a:t>Samsung Electronics</a:t>
            </a:r>
            <a:r>
              <a:rPr lang="fr-FR" b="1" dirty="0">
                <a:solidFill>
                  <a:schemeClr val="tx1"/>
                </a:solidFill>
              </a:rPr>
              <a:t>: </a:t>
            </a:r>
            <a:r>
              <a:rPr lang="fr-FR" dirty="0">
                <a:solidFill>
                  <a:schemeClr val="tx1"/>
                </a:solidFill>
              </a:rPr>
              <a:t>Dominant ans </a:t>
            </a:r>
            <a:r>
              <a:rPr lang="fr-FR" dirty="0" err="1">
                <a:solidFill>
                  <a:schemeClr val="tx1"/>
                </a:solidFill>
              </a:rPr>
              <a:t>still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rising</a:t>
            </a:r>
            <a:r>
              <a:rPr lang="fr-FR" dirty="0">
                <a:solidFill>
                  <a:schemeClr val="tx1"/>
                </a:solidFill>
              </a:rPr>
              <a:t> to ~248 in 2024</a:t>
            </a:r>
          </a:p>
          <a:p>
            <a:pPr algn="ctr"/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Koninklijke Philips</a:t>
            </a:r>
            <a:r>
              <a:rPr lang="fr-FR" dirty="0">
                <a:solidFill>
                  <a:schemeClr val="tx1"/>
                </a:solidFill>
              </a:rPr>
              <a:t>: </a:t>
            </a:r>
            <a:r>
              <a:rPr lang="fr-FR" dirty="0" err="1">
                <a:solidFill>
                  <a:schemeClr val="tx1"/>
                </a:solidFill>
              </a:rPr>
              <a:t>peaked</a:t>
            </a:r>
            <a:r>
              <a:rPr lang="fr-FR" dirty="0">
                <a:solidFill>
                  <a:schemeClr val="tx1"/>
                </a:solidFill>
              </a:rPr>
              <a:t> in 2019</a:t>
            </a:r>
          </a:p>
          <a:p>
            <a:pPr algn="ctr"/>
            <a:r>
              <a:rPr lang="fr-FR" b="1" dirty="0" err="1">
                <a:solidFill>
                  <a:schemeClr val="accent6">
                    <a:lumMod val="75000"/>
                  </a:schemeClr>
                </a:solidFill>
              </a:rPr>
              <a:t>Covidien</a:t>
            </a:r>
            <a:r>
              <a:rPr lang="fr-FR" b="1" dirty="0">
                <a:solidFill>
                  <a:schemeClr val="accent6">
                    <a:lumMod val="75000"/>
                  </a:schemeClr>
                </a:solidFill>
              </a:rPr>
              <a:t> LP</a:t>
            </a:r>
            <a:r>
              <a:rPr lang="fr-FR" dirty="0">
                <a:solidFill>
                  <a:schemeClr val="tx1"/>
                </a:solidFill>
              </a:rPr>
              <a:t>: </a:t>
            </a:r>
            <a:r>
              <a:rPr lang="fr-FR" dirty="0" err="1">
                <a:solidFill>
                  <a:schemeClr val="tx1"/>
                </a:solidFill>
              </a:rPr>
              <a:t>Early</a:t>
            </a:r>
            <a:r>
              <a:rPr lang="fr-FR" dirty="0">
                <a:solidFill>
                  <a:schemeClr val="tx1"/>
                </a:solidFill>
              </a:rPr>
              <a:t> leader </a:t>
            </a:r>
            <a:r>
              <a:rPr lang="fr-FR" dirty="0" err="1">
                <a:solidFill>
                  <a:schemeClr val="tx1"/>
                </a:solidFill>
              </a:rPr>
              <a:t>peaked</a:t>
            </a:r>
            <a:r>
              <a:rPr lang="fr-FR" dirty="0">
                <a:solidFill>
                  <a:schemeClr val="tx1"/>
                </a:solidFill>
              </a:rPr>
              <a:t> in 2014</a:t>
            </a:r>
          </a:p>
          <a:p>
            <a:pPr algn="ctr"/>
            <a:r>
              <a:rPr lang="fr-FR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Masimo</a:t>
            </a:r>
            <a:r>
              <a:rPr lang="fr-FR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Corp</a:t>
            </a:r>
            <a:r>
              <a:rPr lang="fr-FR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</a:t>
            </a:r>
            <a:r>
              <a:rPr lang="fr-FR" dirty="0">
                <a:solidFill>
                  <a:schemeClr val="tx1"/>
                </a:solidFill>
              </a:rPr>
              <a:t>Pulse-</a:t>
            </a:r>
            <a:r>
              <a:rPr lang="fr-FR" dirty="0" err="1">
                <a:solidFill>
                  <a:schemeClr val="tx1"/>
                </a:solidFill>
              </a:rPr>
              <a:t>oximetry</a:t>
            </a:r>
            <a:r>
              <a:rPr lang="fr-FR" dirty="0">
                <a:solidFill>
                  <a:schemeClr val="tx1"/>
                </a:solidFill>
              </a:rPr>
              <a:t> pure </a:t>
            </a:r>
            <a:r>
              <a:rPr lang="fr-FR" dirty="0" err="1">
                <a:solidFill>
                  <a:schemeClr val="tx1"/>
                </a:solidFill>
              </a:rPr>
              <a:t>player</a:t>
            </a:r>
            <a:endParaRPr lang="fr-FR" dirty="0">
              <a:solidFill>
                <a:schemeClr val="tx1"/>
              </a:solidFill>
            </a:endParaRPr>
          </a:p>
          <a:p>
            <a:pPr algn="ctr"/>
            <a:r>
              <a:rPr lang="fr-FR" b="1" dirty="0">
                <a:solidFill>
                  <a:srgbClr val="FF66FF"/>
                </a:solidFill>
              </a:rPr>
              <a:t>Huawei</a:t>
            </a:r>
            <a:r>
              <a:rPr lang="fr-FR" dirty="0">
                <a:solidFill>
                  <a:schemeClr val="tx1"/>
                </a:solidFill>
              </a:rPr>
              <a:t>: China entry in 2016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C25B2A84-C267-CFA5-4DE0-665DAB8AFAE7}"/>
              </a:ext>
            </a:extLst>
          </p:cNvPr>
          <p:cNvGrpSpPr/>
          <p:nvPr/>
        </p:nvGrpSpPr>
        <p:grpSpPr>
          <a:xfrm>
            <a:off x="7144621" y="3406789"/>
            <a:ext cx="4434081" cy="329844"/>
            <a:chOff x="7087996" y="3351363"/>
            <a:chExt cx="4434081" cy="329844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4760E838-42F8-12EC-4B4C-130FEDF38E2B}"/>
                </a:ext>
              </a:extLst>
            </p:cNvPr>
            <p:cNvSpPr txBox="1"/>
            <p:nvPr/>
          </p:nvSpPr>
          <p:spPr>
            <a:xfrm>
              <a:off x="10974565" y="3373430"/>
              <a:ext cx="5475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/>
                <a:t>2024</a:t>
              </a:r>
              <a:endParaRPr lang="en-GB" sz="1400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8CD91FEA-B2A9-C5E1-2F7F-E49F81D8E6F4}"/>
                </a:ext>
              </a:extLst>
            </p:cNvPr>
            <p:cNvSpPr txBox="1"/>
            <p:nvPr/>
          </p:nvSpPr>
          <p:spPr>
            <a:xfrm>
              <a:off x="9049954" y="3351363"/>
              <a:ext cx="5475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/>
                <a:t>2018</a:t>
              </a:r>
              <a:endParaRPr lang="en-GB" sz="1400" dirty="0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787345C1-B34E-29C7-C1C8-744A764ACFF6}"/>
                </a:ext>
              </a:extLst>
            </p:cNvPr>
            <p:cNvSpPr txBox="1"/>
            <p:nvPr/>
          </p:nvSpPr>
          <p:spPr>
            <a:xfrm>
              <a:off x="7087996" y="3360006"/>
              <a:ext cx="5475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/>
                <a:t>2012</a:t>
              </a:r>
              <a:endParaRPr lang="en-GB" sz="1400" dirty="0"/>
            </a:p>
          </p:txBody>
        </p:sp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id="{EF0EC8DE-1ED7-42DE-90D6-53C233073A24}"/>
              </a:ext>
            </a:extLst>
          </p:cNvPr>
          <p:cNvSpPr txBox="1"/>
          <p:nvPr/>
        </p:nvSpPr>
        <p:spPr>
          <a:xfrm>
            <a:off x="6509265" y="1352587"/>
            <a:ext cx="25587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© </a:t>
            </a:r>
            <a:r>
              <a:rPr lang="fr-FR" sz="1000" dirty="0" err="1"/>
              <a:t>TechnoGenesis</a:t>
            </a:r>
            <a:r>
              <a:rPr lang="fr-FR" sz="1000" dirty="0"/>
              <a:t> – </a:t>
            </a:r>
            <a:r>
              <a:rPr lang="fr-FR" sz="1000" dirty="0" err="1"/>
              <a:t>Minesoft</a:t>
            </a:r>
            <a:r>
              <a:rPr lang="fr-FR" sz="1000" dirty="0"/>
              <a:t> Origin July 2026</a:t>
            </a:r>
            <a:endParaRPr lang="en-GB" sz="1000" dirty="0"/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91CFFD03-B9EF-4ABE-9061-D367FC504279}"/>
              </a:ext>
            </a:extLst>
          </p:cNvPr>
          <p:cNvGrpSpPr/>
          <p:nvPr/>
        </p:nvGrpSpPr>
        <p:grpSpPr>
          <a:xfrm>
            <a:off x="-449929" y="6400444"/>
            <a:ext cx="4114800" cy="422069"/>
            <a:chOff x="2436266" y="6394843"/>
            <a:chExt cx="4114800" cy="422069"/>
          </a:xfrm>
        </p:grpSpPr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47132A82-8A7A-C24D-B4DD-9288D864C08D}"/>
                </a:ext>
              </a:extLst>
            </p:cNvPr>
            <p:cNvSpPr/>
            <p:nvPr/>
          </p:nvSpPr>
          <p:spPr>
            <a:xfrm>
              <a:off x="3440863" y="6451787"/>
              <a:ext cx="1894114" cy="365125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7" name="Footer Placeholder 4">
              <a:extLst>
                <a:ext uri="{FF2B5EF4-FFF2-40B4-BE49-F238E27FC236}">
                  <a16:creationId xmlns:a16="http://schemas.microsoft.com/office/drawing/2014/main" id="{BAD80EA9-328D-F676-1214-99B36C1A936B}"/>
                </a:ext>
              </a:extLst>
            </p:cNvPr>
            <p:cNvSpPr txBox="1">
              <a:spLocks/>
            </p:cNvSpPr>
            <p:nvPr/>
          </p:nvSpPr>
          <p:spPr>
            <a:xfrm>
              <a:off x="2436266" y="6394843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© 2026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</a:rPr>
                <a:t>TechnoGenesis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. All rights reserved</a:t>
              </a:r>
              <a:endParaRPr lang="en-GB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28ED351-F560-D20B-601E-B2F48F371BF0}"/>
              </a:ext>
            </a:extLst>
          </p:cNvPr>
          <p:cNvGrpSpPr/>
          <p:nvPr/>
        </p:nvGrpSpPr>
        <p:grpSpPr>
          <a:xfrm>
            <a:off x="-3592286" y="-3069771"/>
            <a:ext cx="20795726" cy="11899798"/>
            <a:chOff x="-1238250" y="70813"/>
            <a:chExt cx="14668500" cy="6582648"/>
          </a:xfrm>
          <a:scene3d>
            <a:camera prst="orthographicFront">
              <a:rot lat="0" lon="0" rev="1800000"/>
            </a:camera>
            <a:lightRig rig="threePt" dir="t"/>
          </a:scene3d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FBF712CF-B402-6563-A24D-B01C0F9AAABC}"/>
                </a:ext>
              </a:extLst>
            </p:cNvPr>
            <p:cNvGrpSpPr/>
            <p:nvPr userDrawn="1"/>
          </p:nvGrpSpPr>
          <p:grpSpPr>
            <a:xfrm>
              <a:off x="-1238250" y="2825520"/>
              <a:ext cx="14668500" cy="410394"/>
              <a:chOff x="-685800" y="2956303"/>
              <a:chExt cx="14668500" cy="410394"/>
            </a:xfrm>
          </p:grpSpPr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956220FC-8445-89F6-5996-3E7D1C04F39E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988372CC-3A08-F0B3-E7BC-6A4A2F5E8EB6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23842F51-1B14-08FB-A6B6-A3B02DAFB822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D946C4DA-B25B-F594-4B78-B825412371F0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451D7A9D-927A-9F0A-C2D4-A7391E81B9C9}"/>
                </a:ext>
              </a:extLst>
            </p:cNvPr>
            <p:cNvGrpSpPr/>
            <p:nvPr userDrawn="1"/>
          </p:nvGrpSpPr>
          <p:grpSpPr>
            <a:xfrm>
              <a:off x="-1238250" y="3710392"/>
              <a:ext cx="14668500" cy="410394"/>
              <a:chOff x="-685800" y="2956303"/>
              <a:chExt cx="14668500" cy="410394"/>
            </a:xfrm>
          </p:grpSpPr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0F85F260-6F80-1F5F-ACEB-F924139E0B74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977FA9EE-F5A0-5561-C962-14A9B10696A2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C84D48B0-9FC4-2CF5-0C0B-FFA217ECE022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44BBA06E-088B-B880-8CF6-A468CCF8F29E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404E335E-9D13-D20E-F406-5DBD4B7E6456}"/>
                </a:ext>
              </a:extLst>
            </p:cNvPr>
            <p:cNvGrpSpPr/>
            <p:nvPr userDrawn="1"/>
          </p:nvGrpSpPr>
          <p:grpSpPr>
            <a:xfrm>
              <a:off x="-1238250" y="4583102"/>
              <a:ext cx="14668500" cy="410394"/>
              <a:chOff x="-685800" y="2956303"/>
              <a:chExt cx="14668500" cy="410394"/>
            </a:xfrm>
          </p:grpSpPr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37546B03-4AD9-A921-7CCA-D59A0362983C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9EEF799B-2858-8F6E-8C96-563159E3E2C3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C034A5BA-76CD-0E52-E393-1E420FE00DB6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2BD55FBF-514A-41D9-8DF5-BBD4DCBE81A2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5A136400-7DBD-1D9D-28EC-6A783E55B66F}"/>
                </a:ext>
              </a:extLst>
            </p:cNvPr>
            <p:cNvGrpSpPr/>
            <p:nvPr userDrawn="1"/>
          </p:nvGrpSpPr>
          <p:grpSpPr>
            <a:xfrm>
              <a:off x="-1238250" y="5467974"/>
              <a:ext cx="14668500" cy="410394"/>
              <a:chOff x="-685800" y="2956303"/>
              <a:chExt cx="14668500" cy="410394"/>
            </a:xfrm>
          </p:grpSpPr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0C94C1F2-1096-69CC-742F-67B17270A64C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6614AA77-214C-D37B-95B3-E126804037EB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BFC21E52-4397-14F1-70CB-29F2976A13D5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FE53AD8F-FE85-D183-8111-A682B32702EE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BD0B98FF-570F-C40C-AB4A-B09CA5874699}"/>
                </a:ext>
              </a:extLst>
            </p:cNvPr>
            <p:cNvGrpSpPr/>
            <p:nvPr userDrawn="1"/>
          </p:nvGrpSpPr>
          <p:grpSpPr>
            <a:xfrm>
              <a:off x="-1238250" y="1859650"/>
              <a:ext cx="14668500" cy="410394"/>
              <a:chOff x="-685800" y="2956303"/>
              <a:chExt cx="14668500" cy="410394"/>
            </a:xfrm>
          </p:grpSpPr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DDCD9F04-131C-0B4D-1161-D6C15749595E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8BC24588-94B4-CDCC-F9BA-6EEAA758248F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C1F24DB-AE1F-6718-440D-A5B02C21AED0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F2E1CCDE-2007-546F-2C0C-D7CDED5889A9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E9E04149-6F3C-A072-9C77-1AE510E25A41}"/>
                </a:ext>
              </a:extLst>
            </p:cNvPr>
            <p:cNvGrpSpPr/>
            <p:nvPr userDrawn="1"/>
          </p:nvGrpSpPr>
          <p:grpSpPr>
            <a:xfrm>
              <a:off x="-1238250" y="70813"/>
              <a:ext cx="14668500" cy="410394"/>
              <a:chOff x="-685800" y="2956303"/>
              <a:chExt cx="14668500" cy="410394"/>
            </a:xfrm>
          </p:grpSpPr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60CF3196-EA73-F7D7-CD78-159B9944B77B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549EFB04-87CD-7EA2-1046-AE2A631EEC39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5560E57C-4274-639B-DB64-8036481FE367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7B109D04-5ACF-DB59-2A95-063904A0ED95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0B778158-163D-7059-E2DA-3DF27DA785B2}"/>
                </a:ext>
              </a:extLst>
            </p:cNvPr>
            <p:cNvGrpSpPr/>
            <p:nvPr userDrawn="1"/>
          </p:nvGrpSpPr>
          <p:grpSpPr>
            <a:xfrm>
              <a:off x="-1238250" y="949927"/>
              <a:ext cx="14668500" cy="410394"/>
              <a:chOff x="-685800" y="2956303"/>
              <a:chExt cx="14668500" cy="410394"/>
            </a:xfrm>
          </p:grpSpPr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266EDF04-5C38-DA61-433B-B4A814D1037E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F04ABFEB-7ACC-BE87-DF19-B3FB40994A19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DCB486B9-5223-5707-4F08-25BAA9BD1B2C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7B2EA00-C7CE-FBEB-934F-3AAAFED2CCCE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A11504B9-DA2E-DDB9-95BB-5CDA0AAA2F83}"/>
                </a:ext>
              </a:extLst>
            </p:cNvPr>
            <p:cNvGrpSpPr/>
            <p:nvPr userDrawn="1"/>
          </p:nvGrpSpPr>
          <p:grpSpPr>
            <a:xfrm>
              <a:off x="-1238250" y="6243067"/>
              <a:ext cx="14668500" cy="410394"/>
              <a:chOff x="-685800" y="2956303"/>
              <a:chExt cx="14668500" cy="410394"/>
            </a:xfrm>
          </p:grpSpPr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9952DBF0-1EF4-4701-CE40-4A7532AA7E59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CDD2852B-6324-3627-9A60-561DC41979B2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A465762C-F8CE-03BC-5AC9-A3C3EC8235B7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C99571FB-D39C-1A0C-0363-AE1C2BB9D614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63153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F5C9E-FB47-76B6-AC9A-C7F4A4716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3FF833-0AE5-B30A-CA03-B88829F946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4762"/>
            <a:ext cx="12172950" cy="684847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B272EC7C-6CF9-C783-2E5E-8D96BB006702}"/>
              </a:ext>
            </a:extLst>
          </p:cNvPr>
          <p:cNvSpPr/>
          <p:nvPr/>
        </p:nvSpPr>
        <p:spPr>
          <a:xfrm>
            <a:off x="-75283" y="247767"/>
            <a:ext cx="3365508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Wearable Optical Biosensing</a:t>
            </a:r>
            <a:endParaRPr lang="en-US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5FF99C3-7023-1C89-1294-451C6EBF865E}"/>
              </a:ext>
            </a:extLst>
          </p:cNvPr>
          <p:cNvSpPr/>
          <p:nvPr/>
        </p:nvSpPr>
        <p:spPr>
          <a:xfrm>
            <a:off x="3751505" y="222053"/>
            <a:ext cx="422442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b="1" cap="none" spc="0" dirty="0">
                <a:ln/>
                <a:solidFill>
                  <a:schemeClr val="accent1">
                    <a:lumMod val="75000"/>
                  </a:schemeClr>
                </a:solidFill>
                <a:effectLst/>
              </a:rPr>
              <a:t>Technology map for fences &amp; white spaces</a:t>
            </a:r>
            <a:endParaRPr lang="en-US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A420CC-BBB4-6932-D2ED-FB44B582B30D}"/>
              </a:ext>
            </a:extLst>
          </p:cNvPr>
          <p:cNvSpPr/>
          <p:nvPr/>
        </p:nvSpPr>
        <p:spPr>
          <a:xfrm>
            <a:off x="1461247" y="3651445"/>
            <a:ext cx="2886635" cy="5261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315AC78-59E5-6FF1-759D-F108914B25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05" r="19440"/>
          <a:stretch>
            <a:fillRect/>
          </a:stretch>
        </p:blipFill>
        <p:spPr>
          <a:xfrm>
            <a:off x="366349" y="639738"/>
            <a:ext cx="6407167" cy="5566680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32C3F38-A9CE-A8CE-ED93-3B08991735FF}"/>
              </a:ext>
            </a:extLst>
          </p:cNvPr>
          <p:cNvSpPr/>
          <p:nvPr/>
        </p:nvSpPr>
        <p:spPr>
          <a:xfrm>
            <a:off x="7102622" y="1119151"/>
            <a:ext cx="4723029" cy="508726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>
              <a:solidFill>
                <a:schemeClr val="tx1"/>
              </a:solidFill>
            </a:endParaRPr>
          </a:p>
          <a:p>
            <a:pPr algn="ctr"/>
            <a:endParaRPr lang="en-GB" b="1" dirty="0">
              <a:solidFill>
                <a:schemeClr val="tx1"/>
              </a:solidFill>
            </a:endParaRPr>
          </a:p>
          <a:p>
            <a:pPr algn="ctr"/>
            <a:r>
              <a:rPr lang="en-GB" b="1" dirty="0">
                <a:solidFill>
                  <a:schemeClr val="tx1"/>
                </a:solidFill>
              </a:rPr>
              <a:t>Fences (crowded, FTO risk) -&gt; </a:t>
            </a:r>
            <a:r>
              <a:rPr lang="en-GB" dirty="0">
                <a:solidFill>
                  <a:schemeClr val="tx1"/>
                </a:solidFill>
              </a:rPr>
              <a:t>the vital-signs core — heart rate, ECG, blood-oxygen, hemodynamic parameters— plus the generic hardware massif (measuring device, sensor assembly, analyte monitoring).</a:t>
            </a:r>
            <a:endParaRPr lang="en-GB" b="1" dirty="0">
              <a:solidFill>
                <a:schemeClr val="tx1"/>
              </a:solidFill>
            </a:endParaRPr>
          </a:p>
          <a:p>
            <a:pPr algn="ctr"/>
            <a:endParaRPr lang="en-GB" b="1" dirty="0">
              <a:solidFill>
                <a:schemeClr val="tx1"/>
              </a:solidFill>
            </a:endParaRPr>
          </a:p>
          <a:p>
            <a:pPr algn="ctr"/>
            <a:r>
              <a:rPr lang="en-GB" b="1" dirty="0">
                <a:solidFill>
                  <a:schemeClr val="tx1"/>
                </a:solidFill>
              </a:rPr>
              <a:t>White spaces (thin, at the edges): </a:t>
            </a:r>
            <a:r>
              <a:rPr lang="en-GB" dirty="0">
                <a:solidFill>
                  <a:schemeClr val="tx1"/>
                </a:solidFill>
              </a:rPr>
              <a:t>the optical-component periphery — optical path, light receiver, light intensity, optical biometric, blood flow — and the valleys between the consumer-device clusters (e.g. mobile/computing device, display part) and the clinical clusters.</a:t>
            </a:r>
          </a:p>
          <a:p>
            <a:pPr algn="ctr"/>
            <a:endParaRPr lang="en-GB" b="1" dirty="0">
              <a:solidFill>
                <a:schemeClr val="tx1"/>
              </a:solidFill>
            </a:endParaRPr>
          </a:p>
          <a:p>
            <a:pPr algn="ctr"/>
            <a:r>
              <a:rPr lang="en-GB" b="1" dirty="0">
                <a:solidFill>
                  <a:schemeClr val="tx1"/>
                </a:solidFill>
              </a:rPr>
              <a:t>Caution: </a:t>
            </a:r>
            <a:r>
              <a:rPr lang="en-GB" dirty="0">
                <a:solidFill>
                  <a:schemeClr val="tx1"/>
                </a:solidFill>
              </a:rPr>
              <a:t>empty doesn’t mean valuable — a blank region can be infeasible rather than open.</a:t>
            </a: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r>
              <a:rPr lang="en-GB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951ADD-DD98-F932-0566-3003FB0E16CA}"/>
              </a:ext>
            </a:extLst>
          </p:cNvPr>
          <p:cNvSpPr txBox="1"/>
          <p:nvPr/>
        </p:nvSpPr>
        <p:spPr>
          <a:xfrm>
            <a:off x="4214803" y="5370315"/>
            <a:ext cx="25587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© </a:t>
            </a:r>
            <a:r>
              <a:rPr lang="fr-FR" sz="1000" dirty="0" err="1"/>
              <a:t>TechnoGenesis</a:t>
            </a:r>
            <a:r>
              <a:rPr lang="fr-FR" sz="1000" dirty="0"/>
              <a:t> – </a:t>
            </a:r>
            <a:r>
              <a:rPr lang="fr-FR" sz="1000" dirty="0" err="1"/>
              <a:t>Minesoft</a:t>
            </a:r>
            <a:r>
              <a:rPr lang="fr-FR" sz="1000" dirty="0"/>
              <a:t> Origin July 2026</a:t>
            </a:r>
            <a:endParaRPr lang="en-GB" sz="10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B041D74-FE74-733F-6800-24689178318F}"/>
              </a:ext>
            </a:extLst>
          </p:cNvPr>
          <p:cNvGrpSpPr/>
          <p:nvPr/>
        </p:nvGrpSpPr>
        <p:grpSpPr>
          <a:xfrm>
            <a:off x="-3592286" y="-3069771"/>
            <a:ext cx="20795726" cy="11899798"/>
            <a:chOff x="-1238250" y="70813"/>
            <a:chExt cx="14668500" cy="6582648"/>
          </a:xfrm>
          <a:scene3d>
            <a:camera prst="orthographicFront">
              <a:rot lat="0" lon="0" rev="1800000"/>
            </a:camera>
            <a:lightRig rig="threePt" dir="t"/>
          </a:scene3d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4E8434D-59B3-4FA6-9BF0-1EC650298963}"/>
                </a:ext>
              </a:extLst>
            </p:cNvPr>
            <p:cNvGrpSpPr/>
            <p:nvPr userDrawn="1"/>
          </p:nvGrpSpPr>
          <p:grpSpPr>
            <a:xfrm>
              <a:off x="-1238250" y="2825520"/>
              <a:ext cx="14668500" cy="410394"/>
              <a:chOff x="-685800" y="2956303"/>
              <a:chExt cx="14668500" cy="410394"/>
            </a:xfrm>
          </p:grpSpPr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B5F48AB-3A18-4120-7539-85121109D5D4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63262AA-37AC-54B3-B356-4585690FE955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DBCC0D6-BA3F-3D30-5F12-BB389E2FE119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B8F68B0-E4AA-AD53-5F00-1293E607D407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0C59AE5-7B91-6C33-2A41-12302A4F71ED}"/>
                </a:ext>
              </a:extLst>
            </p:cNvPr>
            <p:cNvGrpSpPr/>
            <p:nvPr userDrawn="1"/>
          </p:nvGrpSpPr>
          <p:grpSpPr>
            <a:xfrm>
              <a:off x="-1238250" y="3710392"/>
              <a:ext cx="14668500" cy="410394"/>
              <a:chOff x="-685800" y="2956303"/>
              <a:chExt cx="14668500" cy="410394"/>
            </a:xfrm>
          </p:grpSpPr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4F78072-B8B2-498E-2BFC-EA98E209F4B3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E57699E-104F-869A-DCED-188227808DAB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614E62E-03D0-5C40-275B-7612C6BEBC1B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C19C062-67CD-A227-B7A3-93FCB033B10F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42DB73F-94F6-35CC-7CA8-7117A6696090}"/>
                </a:ext>
              </a:extLst>
            </p:cNvPr>
            <p:cNvGrpSpPr/>
            <p:nvPr userDrawn="1"/>
          </p:nvGrpSpPr>
          <p:grpSpPr>
            <a:xfrm>
              <a:off x="-1238250" y="4583102"/>
              <a:ext cx="14668500" cy="410394"/>
              <a:chOff x="-685800" y="2956303"/>
              <a:chExt cx="14668500" cy="410394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BC72534-2EDA-DB1F-6E7C-BE9239279C89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050D6F5-22F7-0454-5477-EC45D51D1D8E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0AE39B5-34D5-8296-9050-EC386903AE4F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E60DB91-0EE3-B842-CE33-AAF1E0219C1F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819D8F5-5A55-7B01-2892-D6F710F00CDF}"/>
                </a:ext>
              </a:extLst>
            </p:cNvPr>
            <p:cNvGrpSpPr/>
            <p:nvPr userDrawn="1"/>
          </p:nvGrpSpPr>
          <p:grpSpPr>
            <a:xfrm>
              <a:off x="-1238250" y="5467974"/>
              <a:ext cx="14668500" cy="410394"/>
              <a:chOff x="-685800" y="2956303"/>
              <a:chExt cx="14668500" cy="410394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131A7B5-F773-309D-54DB-94C206013BA3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E85C7E7-7A7C-E366-3BA7-518F3D277A59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7C87EA5-3274-84A9-B4FB-AC7AD295C1CE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D8FE700-A926-47D0-9D2E-2D8BF801DEEC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57D92D8-499A-492D-9D66-47F7DA225CF4}"/>
                </a:ext>
              </a:extLst>
            </p:cNvPr>
            <p:cNvGrpSpPr/>
            <p:nvPr userDrawn="1"/>
          </p:nvGrpSpPr>
          <p:grpSpPr>
            <a:xfrm>
              <a:off x="-1238250" y="1859650"/>
              <a:ext cx="14668500" cy="410394"/>
              <a:chOff x="-685800" y="2956303"/>
              <a:chExt cx="14668500" cy="410394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FD88EA6-B2E4-4C26-54B8-737A9C918843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A7B6135-1089-69AC-C5BE-412D569A94B1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BA91EE4-67FD-3D91-C8FA-D1294D481602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E177227-5C7A-C4CE-FC04-E7E357EFB9B1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111357B-2D1C-E2EB-5C4C-187264F274C7}"/>
                </a:ext>
              </a:extLst>
            </p:cNvPr>
            <p:cNvGrpSpPr/>
            <p:nvPr userDrawn="1"/>
          </p:nvGrpSpPr>
          <p:grpSpPr>
            <a:xfrm>
              <a:off x="-1238250" y="70813"/>
              <a:ext cx="14668500" cy="410394"/>
              <a:chOff x="-685800" y="2956303"/>
              <a:chExt cx="14668500" cy="410394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B353FFD-ADF1-0B29-021A-16C1BDAF9814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DE45881-E47C-2162-28F9-D608B69A99CE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D27EC54-7E95-BC6F-FB32-C918ABA1BFF5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5183EBE-674F-4816-3734-94ACD159B47A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E1074AC-A1EF-68D2-4029-0CA974D9FDAD}"/>
                </a:ext>
              </a:extLst>
            </p:cNvPr>
            <p:cNvGrpSpPr/>
            <p:nvPr userDrawn="1"/>
          </p:nvGrpSpPr>
          <p:grpSpPr>
            <a:xfrm>
              <a:off x="-1238250" y="949927"/>
              <a:ext cx="14668500" cy="410394"/>
              <a:chOff x="-685800" y="2956303"/>
              <a:chExt cx="14668500" cy="410394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8ABCE03-16A3-4E57-B188-3F11BB3B148F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13EC4B5-C75C-8504-4C15-CE1BA3EED3CB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5DEE312-8943-582A-294E-A26FD1AC217C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E094E9F-B4A0-C1AD-E21C-9FF09200C17C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116498B-C8A7-42EB-042A-35738E7AAB14}"/>
                </a:ext>
              </a:extLst>
            </p:cNvPr>
            <p:cNvGrpSpPr/>
            <p:nvPr userDrawn="1"/>
          </p:nvGrpSpPr>
          <p:grpSpPr>
            <a:xfrm>
              <a:off x="-1238250" y="6243067"/>
              <a:ext cx="14668500" cy="410394"/>
              <a:chOff x="-685800" y="2956303"/>
              <a:chExt cx="14668500" cy="410394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AD5CDF8-8DA8-F346-F62D-AB6AE00661B0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0141120-99C7-8095-8109-15BD9D38D052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27BF599-E7FA-92A9-9ACF-FEC84D1222C2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89D2846-0F84-1B92-9B36-0181C3A4ACC4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C339479-80B0-1454-7272-F1982C786CC8}"/>
              </a:ext>
            </a:extLst>
          </p:cNvPr>
          <p:cNvGrpSpPr/>
          <p:nvPr/>
        </p:nvGrpSpPr>
        <p:grpSpPr>
          <a:xfrm>
            <a:off x="-428506" y="6395612"/>
            <a:ext cx="4114800" cy="422069"/>
            <a:chOff x="2436266" y="6394843"/>
            <a:chExt cx="4114800" cy="422069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5219213-922F-446D-7BD7-A00C86BB02F7}"/>
                </a:ext>
              </a:extLst>
            </p:cNvPr>
            <p:cNvSpPr/>
            <p:nvPr/>
          </p:nvSpPr>
          <p:spPr>
            <a:xfrm>
              <a:off x="3440863" y="6451787"/>
              <a:ext cx="1894114" cy="365125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Footer Placeholder 4">
              <a:extLst>
                <a:ext uri="{FF2B5EF4-FFF2-40B4-BE49-F238E27FC236}">
                  <a16:creationId xmlns:a16="http://schemas.microsoft.com/office/drawing/2014/main" id="{3574B721-8A66-9786-9CA5-6CB1CDF0C266}"/>
                </a:ext>
              </a:extLst>
            </p:cNvPr>
            <p:cNvSpPr txBox="1">
              <a:spLocks/>
            </p:cNvSpPr>
            <p:nvPr/>
          </p:nvSpPr>
          <p:spPr>
            <a:xfrm>
              <a:off x="2436266" y="6394843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© 2026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</a:rPr>
                <a:t>TechnoGenesis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. All rights reserved</a:t>
              </a:r>
              <a:endParaRPr lang="en-GB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268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7B03C-8860-2FB8-7A75-A3EDBA097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AD56D2-3948-E59F-BC2F-012CA17A24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0"/>
            <a:ext cx="12172950" cy="684847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5E97330-E92B-46D7-7C41-87ED167D2DDF}"/>
              </a:ext>
            </a:extLst>
          </p:cNvPr>
          <p:cNvSpPr/>
          <p:nvPr/>
        </p:nvSpPr>
        <p:spPr>
          <a:xfrm>
            <a:off x="-75283" y="247767"/>
            <a:ext cx="3365508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Emerging trends in Photonics</a:t>
            </a:r>
            <a:endParaRPr lang="en-US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C62820-7D6B-D84E-B960-E8C9AC1891F0}"/>
              </a:ext>
            </a:extLst>
          </p:cNvPr>
          <p:cNvSpPr/>
          <p:nvPr/>
        </p:nvSpPr>
        <p:spPr>
          <a:xfrm>
            <a:off x="5207250" y="247767"/>
            <a:ext cx="109780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b="1" cap="none" spc="0" dirty="0">
                <a:ln/>
                <a:solidFill>
                  <a:schemeClr val="accent1">
                    <a:lumMod val="75000"/>
                  </a:schemeClr>
                </a:solidFill>
                <a:effectLst/>
              </a:rPr>
              <a:t>Summary</a:t>
            </a:r>
            <a:endParaRPr lang="en-US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052FEE9-8083-B13E-EDA7-60F20CEFE423}"/>
              </a:ext>
            </a:extLst>
          </p:cNvPr>
          <p:cNvSpPr/>
          <p:nvPr/>
        </p:nvSpPr>
        <p:spPr>
          <a:xfrm>
            <a:off x="172272" y="1448877"/>
            <a:ext cx="4120167" cy="44680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Methodology</a:t>
            </a:r>
            <a:r>
              <a:rPr lang="en-US" dirty="0">
                <a:solidFill>
                  <a:schemeClr val="tx1"/>
                </a:solidFill>
              </a:rPr>
              <a:t>: Patent families by earliest priority year, bounded by IPC/CPC codes and refined with keywords.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Two domains studied in-house with </a:t>
            </a:r>
            <a:r>
              <a:rPr lang="en-US" dirty="0" err="1">
                <a:solidFill>
                  <a:schemeClr val="tx1"/>
                </a:solidFill>
              </a:rPr>
              <a:t>Minesoft</a:t>
            </a:r>
            <a:r>
              <a:rPr lang="en-US" dirty="0">
                <a:solidFill>
                  <a:schemeClr val="tx1"/>
                </a:solidFill>
              </a:rPr>
              <a:t> Origin (hollow-core </a:t>
            </a:r>
            <a:r>
              <a:rPr lang="en-US" dirty="0" err="1">
                <a:solidFill>
                  <a:schemeClr val="tx1"/>
                </a:solidFill>
              </a:rPr>
              <a:t>fibre</a:t>
            </a:r>
            <a:r>
              <a:rPr lang="en-US" dirty="0">
                <a:solidFill>
                  <a:schemeClr val="tx1"/>
                </a:solidFill>
              </a:rPr>
              <a:t>; OCT &amp; wearable biosensing); six read from published landscapes.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S-curves </a:t>
            </a:r>
            <a:r>
              <a:rPr lang="en-US" dirty="0">
                <a:solidFill>
                  <a:schemeClr val="tx1"/>
                </a:solidFill>
              </a:rPr>
              <a:t>place a technology on its diffusion path —emergence, invasion, saturation — and the </a:t>
            </a:r>
            <a:r>
              <a:rPr lang="en-US" b="1" dirty="0">
                <a:solidFill>
                  <a:schemeClr val="tx1"/>
                </a:solidFill>
              </a:rPr>
              <a:t>theme map </a:t>
            </a:r>
            <a:r>
              <a:rPr lang="en-US" dirty="0">
                <a:solidFill>
                  <a:schemeClr val="tx1"/>
                </a:solidFill>
              </a:rPr>
              <a:t>locates the fences and the white spaces. Limits kept in view throughout: the </a:t>
            </a:r>
            <a:r>
              <a:rPr lang="en-US" b="1" dirty="0">
                <a:solidFill>
                  <a:schemeClr val="tx1"/>
                </a:solidFill>
              </a:rPr>
              <a:t>18-month black box</a:t>
            </a:r>
            <a:r>
              <a:rPr lang="en-US" dirty="0">
                <a:solidFill>
                  <a:schemeClr val="tx1"/>
                </a:solidFill>
              </a:rPr>
              <a:t>, and </a:t>
            </a:r>
            <a:r>
              <a:rPr lang="en-US" b="1" dirty="0">
                <a:solidFill>
                  <a:schemeClr val="tx1"/>
                </a:solidFill>
              </a:rPr>
              <a:t>publication ≠ granted rights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C5FF97-0C94-8A56-DB9C-882D3CE29A74}"/>
              </a:ext>
            </a:extLst>
          </p:cNvPr>
          <p:cNvSpPr/>
          <p:nvPr/>
        </p:nvSpPr>
        <p:spPr>
          <a:xfrm>
            <a:off x="4573022" y="1448877"/>
            <a:ext cx="3431775" cy="123973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China leads filing counts; the US and Europe still hold the international families. 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81DDFB6-B5AD-2130-71E2-B6FC8776E0F7}"/>
              </a:ext>
            </a:extLst>
          </p:cNvPr>
          <p:cNvSpPr/>
          <p:nvPr/>
        </p:nvSpPr>
        <p:spPr>
          <a:xfrm>
            <a:off x="8550892" y="1448877"/>
            <a:ext cx="3148182" cy="438957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this analysis does </a:t>
            </a:r>
            <a:r>
              <a:rPr lang="en-US" i="1" dirty="0">
                <a:solidFill>
                  <a:schemeClr val="tx1"/>
                </a:solidFill>
              </a:rPr>
              <a:t>not </a:t>
            </a:r>
            <a:r>
              <a:rPr lang="en-US" dirty="0">
                <a:solidFill>
                  <a:schemeClr val="tx1"/>
                </a:solidFill>
              </a:rPr>
              <a:t>yet tell us: whether the fences are still alive, how broad the claims are, and how the patents cite and litigate. 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Building on assignee harmonization already applied here. The next step is adding legal-status filtering and claim-level whitespace mapping which can turn a landscape into a filing strategy. 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B2DA60-5C83-2DA5-394F-559938930080}"/>
              </a:ext>
            </a:extLst>
          </p:cNvPr>
          <p:cNvSpPr txBox="1"/>
          <p:nvPr/>
        </p:nvSpPr>
        <p:spPr>
          <a:xfrm>
            <a:off x="1460310" y="10795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2771D3-2EF4-7845-CA70-7878ADD98B14}"/>
              </a:ext>
            </a:extLst>
          </p:cNvPr>
          <p:cNvSpPr txBox="1"/>
          <p:nvPr/>
        </p:nvSpPr>
        <p:spPr>
          <a:xfrm>
            <a:off x="492926" y="941045"/>
            <a:ext cx="31127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u="sng" dirty="0"/>
              <a:t>S-</a:t>
            </a:r>
            <a:r>
              <a:rPr lang="fr-FR" b="1" u="sng" dirty="0" err="1"/>
              <a:t>curves</a:t>
            </a:r>
            <a:r>
              <a:rPr lang="fr-FR" b="1" u="sng" dirty="0"/>
              <a:t>, white </a:t>
            </a:r>
            <a:r>
              <a:rPr lang="fr-FR" b="1" u="sng" dirty="0" err="1"/>
              <a:t>spaces</a:t>
            </a:r>
            <a:r>
              <a:rPr lang="fr-FR" b="1" u="sng" dirty="0"/>
              <a:t> </a:t>
            </a:r>
            <a:r>
              <a:rPr lang="fr-FR" b="1" u="sng" dirty="0" err="1"/>
              <a:t>studies</a:t>
            </a:r>
            <a:endParaRPr lang="fr-FR" b="1" u="sng" dirty="0"/>
          </a:p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5F3216-2CBD-C0A7-DD59-D6F7509A327F}"/>
              </a:ext>
            </a:extLst>
          </p:cNvPr>
          <p:cNvSpPr txBox="1"/>
          <p:nvPr/>
        </p:nvSpPr>
        <p:spPr>
          <a:xfrm>
            <a:off x="4574017" y="906078"/>
            <a:ext cx="3497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u="sng" dirty="0" err="1"/>
              <a:t>Results</a:t>
            </a:r>
            <a:r>
              <a:rPr lang="fr-FR" b="1" u="sng" dirty="0"/>
              <a:t>: </a:t>
            </a:r>
            <a:r>
              <a:rPr lang="fr-FR" b="1" u="sng" dirty="0" err="1"/>
              <a:t>Three</a:t>
            </a:r>
            <a:r>
              <a:rPr lang="fr-FR" b="1" u="sng" dirty="0"/>
              <a:t> cross-</a:t>
            </a:r>
            <a:r>
              <a:rPr lang="fr-FR" b="1" u="sng" dirty="0" err="1"/>
              <a:t>cutting</a:t>
            </a:r>
            <a:r>
              <a:rPr lang="fr-FR" b="1" u="sng" dirty="0"/>
              <a:t> </a:t>
            </a:r>
            <a:r>
              <a:rPr lang="fr-FR" b="1" u="sng" dirty="0" err="1"/>
              <a:t>signals</a:t>
            </a:r>
            <a:endParaRPr lang="fr-FR" b="1" u="sng" dirty="0"/>
          </a:p>
          <a:p>
            <a:endParaRPr lang="en-GB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0797BD6-A129-B8CD-3EC9-FAF6EC20D2EA}"/>
              </a:ext>
            </a:extLst>
          </p:cNvPr>
          <p:cNvSpPr/>
          <p:nvPr/>
        </p:nvSpPr>
        <p:spPr>
          <a:xfrm>
            <a:off x="4540995" y="2865410"/>
            <a:ext cx="3497817" cy="141065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AI is the tide</a:t>
            </a:r>
            <a:r>
              <a:rPr lang="en-US" dirty="0">
                <a:solidFill>
                  <a:schemeClr val="tx1"/>
                </a:solidFill>
              </a:rPr>
              <a:t>. Co-packaged optics, photonic computing and hollow-core </a:t>
            </a:r>
            <a:r>
              <a:rPr lang="en-US" dirty="0" err="1">
                <a:solidFill>
                  <a:schemeClr val="tx1"/>
                </a:solidFill>
              </a:rPr>
              <a:t>fibre</a:t>
            </a:r>
            <a:r>
              <a:rPr lang="en-US" dirty="0">
                <a:solidFill>
                  <a:schemeClr val="tx1"/>
                </a:solidFill>
              </a:rPr>
              <a:t> are one story — the physical layer of AI compute.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F4E8A68-D889-F2C7-FC65-A821C5DAE3DB}"/>
              </a:ext>
            </a:extLst>
          </p:cNvPr>
          <p:cNvSpPr/>
          <p:nvPr/>
        </p:nvSpPr>
        <p:spPr>
          <a:xfrm>
            <a:off x="4607037" y="4529998"/>
            <a:ext cx="3431775" cy="159082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The domains are converging. </a:t>
            </a:r>
            <a:r>
              <a:rPr lang="en-US" dirty="0" err="1">
                <a:solidFill>
                  <a:schemeClr val="tx1"/>
                </a:solidFill>
              </a:rPr>
              <a:t>Metasurfaces</a:t>
            </a:r>
            <a:r>
              <a:rPr lang="en-US" dirty="0">
                <a:solidFill>
                  <a:schemeClr val="tx1"/>
                </a:solidFill>
              </a:rPr>
              <a:t> feed LiDAR and AR; silicon photonics underpins quantum and computing. Whitespace is found at the interfaces.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E5CD95-0AF0-B560-809B-211E329FF485}"/>
              </a:ext>
            </a:extLst>
          </p:cNvPr>
          <p:cNvSpPr txBox="1"/>
          <p:nvPr/>
        </p:nvSpPr>
        <p:spPr>
          <a:xfrm>
            <a:off x="9727649" y="881048"/>
            <a:ext cx="6347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u="sng" dirty="0"/>
              <a:t>Next</a:t>
            </a:r>
          </a:p>
          <a:p>
            <a:endParaRPr lang="en-GB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0631277-CC1C-B034-1134-5C99D72A20A3}"/>
              </a:ext>
            </a:extLst>
          </p:cNvPr>
          <p:cNvGrpSpPr/>
          <p:nvPr/>
        </p:nvGrpSpPr>
        <p:grpSpPr>
          <a:xfrm>
            <a:off x="-428506" y="6395612"/>
            <a:ext cx="4114800" cy="422069"/>
            <a:chOff x="2436266" y="6394843"/>
            <a:chExt cx="4114800" cy="422069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1103C77E-9361-6BF9-0A71-03859A6D520F}"/>
                </a:ext>
              </a:extLst>
            </p:cNvPr>
            <p:cNvSpPr/>
            <p:nvPr/>
          </p:nvSpPr>
          <p:spPr>
            <a:xfrm>
              <a:off x="3440863" y="6451787"/>
              <a:ext cx="1894114" cy="365125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1" name="Footer Placeholder 4">
              <a:extLst>
                <a:ext uri="{FF2B5EF4-FFF2-40B4-BE49-F238E27FC236}">
                  <a16:creationId xmlns:a16="http://schemas.microsoft.com/office/drawing/2014/main" id="{6D74B140-5AA7-03A3-FD5F-A7318EDC208F}"/>
                </a:ext>
              </a:extLst>
            </p:cNvPr>
            <p:cNvSpPr txBox="1">
              <a:spLocks/>
            </p:cNvSpPr>
            <p:nvPr/>
          </p:nvSpPr>
          <p:spPr>
            <a:xfrm>
              <a:off x="2436266" y="6394843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© 2026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</a:rPr>
                <a:t>TechnoGenesis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. All rights reserved</a:t>
              </a:r>
              <a:endParaRPr lang="en-GB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3688EFB-828E-4303-8F15-8958C12D6551}"/>
              </a:ext>
            </a:extLst>
          </p:cNvPr>
          <p:cNvGrpSpPr/>
          <p:nvPr/>
        </p:nvGrpSpPr>
        <p:grpSpPr>
          <a:xfrm>
            <a:off x="-3592286" y="-3069771"/>
            <a:ext cx="20795726" cy="11899798"/>
            <a:chOff x="-1238250" y="70813"/>
            <a:chExt cx="14668500" cy="6582648"/>
          </a:xfrm>
          <a:scene3d>
            <a:camera prst="orthographicFront">
              <a:rot lat="0" lon="0" rev="1800000"/>
            </a:camera>
            <a:lightRig rig="threePt" dir="t"/>
          </a:scene3d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E0303ABE-6989-FA7F-9E89-105586FA1983}"/>
                </a:ext>
              </a:extLst>
            </p:cNvPr>
            <p:cNvGrpSpPr/>
            <p:nvPr userDrawn="1"/>
          </p:nvGrpSpPr>
          <p:grpSpPr>
            <a:xfrm>
              <a:off x="-1238250" y="2825520"/>
              <a:ext cx="14668500" cy="410394"/>
              <a:chOff x="-685800" y="2956303"/>
              <a:chExt cx="14668500" cy="410394"/>
            </a:xfrm>
          </p:grpSpPr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DED68575-1403-C65C-CC5F-8C671CF89846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4E5E748C-D94A-4017-EB0C-C7BE9746EFBC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93720FF0-DCFB-1CEF-CF9C-D06C7CEE6788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1F07437D-97BE-1374-F773-1CB3A862A00E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6B9B7B7E-8895-7481-6D03-E790C7CB557E}"/>
                </a:ext>
              </a:extLst>
            </p:cNvPr>
            <p:cNvGrpSpPr/>
            <p:nvPr userDrawn="1"/>
          </p:nvGrpSpPr>
          <p:grpSpPr>
            <a:xfrm>
              <a:off x="-1238250" y="3710392"/>
              <a:ext cx="14668500" cy="410394"/>
              <a:chOff x="-685800" y="2956303"/>
              <a:chExt cx="14668500" cy="410394"/>
            </a:xfrm>
          </p:grpSpPr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40E66BF5-A0B5-4CB2-E633-471328A32BEB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97A34C45-24CB-BACF-F653-F5DD4B9FEE25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DF8443E-624B-BDF6-F6DE-5C4A5081AF6D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1EC9B121-062F-7658-C156-CCE943C7556E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901FEBE1-913A-5646-0AAD-E11AD1BD019F}"/>
                </a:ext>
              </a:extLst>
            </p:cNvPr>
            <p:cNvGrpSpPr/>
            <p:nvPr userDrawn="1"/>
          </p:nvGrpSpPr>
          <p:grpSpPr>
            <a:xfrm>
              <a:off x="-1238250" y="4583102"/>
              <a:ext cx="14668500" cy="410394"/>
              <a:chOff x="-685800" y="2956303"/>
              <a:chExt cx="14668500" cy="410394"/>
            </a:xfrm>
          </p:grpSpPr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AB1A6A31-A228-467D-271A-3CEBE779FF35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E4638A1D-163D-4F20-6A3A-729BF2745D7B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6E9565E0-1773-4ACE-0694-532BBFE98352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87AD0BF8-D719-162B-7A6A-B0976ADD0042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55FE4AC1-B993-1205-1698-1D9F7066B903}"/>
                </a:ext>
              </a:extLst>
            </p:cNvPr>
            <p:cNvGrpSpPr/>
            <p:nvPr userDrawn="1"/>
          </p:nvGrpSpPr>
          <p:grpSpPr>
            <a:xfrm>
              <a:off x="-1238250" y="5467974"/>
              <a:ext cx="14668500" cy="410394"/>
              <a:chOff x="-685800" y="2956303"/>
              <a:chExt cx="14668500" cy="410394"/>
            </a:xfrm>
          </p:grpSpPr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48AD0F05-D009-213A-0066-980A55EF894E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E7F9C1EA-212F-F2A6-1311-BC3954750F41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33F53330-CFDC-9251-6B9A-17D8130AD0F9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6E9DC928-8E7C-58D0-2472-E5E9004E0EE0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8D2C3C9F-2921-94D4-682E-0813C3F9C4BB}"/>
                </a:ext>
              </a:extLst>
            </p:cNvPr>
            <p:cNvGrpSpPr/>
            <p:nvPr userDrawn="1"/>
          </p:nvGrpSpPr>
          <p:grpSpPr>
            <a:xfrm>
              <a:off x="-1238250" y="1859650"/>
              <a:ext cx="14668500" cy="410394"/>
              <a:chOff x="-685800" y="2956303"/>
              <a:chExt cx="14668500" cy="410394"/>
            </a:xfrm>
          </p:grpSpPr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D42BB26-6133-3843-AEDE-74894D32C0C7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C916D475-2A44-2989-D9E4-9FCDF0FB9993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EF5AEB0-C0CD-D8B5-F6A1-E54361BE65F7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E6DA6A6B-08EB-F3AC-086F-A0A85ED5F55C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CFACAFB8-7CA5-05AE-283C-0521E573F570}"/>
                </a:ext>
              </a:extLst>
            </p:cNvPr>
            <p:cNvGrpSpPr/>
            <p:nvPr userDrawn="1"/>
          </p:nvGrpSpPr>
          <p:grpSpPr>
            <a:xfrm>
              <a:off x="-1238250" y="70813"/>
              <a:ext cx="14668500" cy="410394"/>
              <a:chOff x="-685800" y="2956303"/>
              <a:chExt cx="14668500" cy="410394"/>
            </a:xfrm>
          </p:grpSpPr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A986FD5-17E1-4A84-C534-8217A7879AC5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7E3A448-B263-1D4A-0E40-00D93A2B822C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1D737D47-82E9-85CD-2E3B-EC854F53F7A3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EDE5D3FE-E464-695C-1BB4-AB6CD006C807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01DD19A9-68F0-F505-C07E-5EC848332137}"/>
                </a:ext>
              </a:extLst>
            </p:cNvPr>
            <p:cNvGrpSpPr/>
            <p:nvPr userDrawn="1"/>
          </p:nvGrpSpPr>
          <p:grpSpPr>
            <a:xfrm>
              <a:off x="-1238250" y="949927"/>
              <a:ext cx="14668500" cy="410394"/>
              <a:chOff x="-685800" y="2956303"/>
              <a:chExt cx="14668500" cy="410394"/>
            </a:xfrm>
          </p:grpSpPr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2E931FC9-3249-494D-B773-8ED1F736BEBA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218487E-FE27-A26C-D10B-84E84544B9FC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91FCCCC-57AF-0C21-8BF4-58FE0367DA48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9AE9AF2-C88F-EFC7-C814-4662BBC4F7B7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E2374C8C-7042-B996-4088-6897E69947CE}"/>
                </a:ext>
              </a:extLst>
            </p:cNvPr>
            <p:cNvGrpSpPr/>
            <p:nvPr userDrawn="1"/>
          </p:nvGrpSpPr>
          <p:grpSpPr>
            <a:xfrm>
              <a:off x="-1238250" y="6243067"/>
              <a:ext cx="14668500" cy="410394"/>
              <a:chOff x="-685800" y="2956303"/>
              <a:chExt cx="14668500" cy="410394"/>
            </a:xfrm>
          </p:grpSpPr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C2E04A9B-C41A-5E54-17F0-6F819DF3F1D1}"/>
                  </a:ext>
                </a:extLst>
              </p:cNvPr>
              <p:cNvSpPr txBox="1"/>
              <p:nvPr userDrawn="1"/>
            </p:nvSpPr>
            <p:spPr>
              <a:xfrm>
                <a:off x="-685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CC09291-C125-9DD3-6753-7C5A998E77C4}"/>
                  </a:ext>
                </a:extLst>
              </p:cNvPr>
              <p:cNvSpPr txBox="1"/>
              <p:nvPr userDrawn="1"/>
            </p:nvSpPr>
            <p:spPr>
              <a:xfrm>
                <a:off x="2857500" y="295630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925D96B2-4536-D7E5-35A3-8DFAAA150F63}"/>
                  </a:ext>
                </a:extLst>
              </p:cNvPr>
              <p:cNvSpPr txBox="1"/>
              <p:nvPr userDrawn="1"/>
            </p:nvSpPr>
            <p:spPr>
              <a:xfrm>
                <a:off x="6400800" y="2975113"/>
                <a:ext cx="4038600" cy="391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1B25B4DB-3D52-E6AD-D608-12AFFC9ECCA1}"/>
                  </a:ext>
                </a:extLst>
              </p:cNvPr>
              <p:cNvSpPr txBox="1"/>
              <p:nvPr userDrawn="1"/>
            </p:nvSpPr>
            <p:spPr>
              <a:xfrm>
                <a:off x="9944100" y="2956303"/>
                <a:ext cx="4038600" cy="39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dirty="0" err="1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TechnoGenesis</a:t>
                </a:r>
                <a:r>
                  <a:rPr lang="fr-FR" sz="4000" dirty="0">
                    <a:solidFill>
                      <a:schemeClr val="accent1">
                        <a:lumMod val="75000"/>
                        <a:alpha val="10000"/>
                      </a:schemeClr>
                    </a:solidFill>
                  </a:rPr>
                  <a:t> •</a:t>
                </a:r>
                <a:endParaRPr lang="en-GB" sz="4000" dirty="0">
                  <a:solidFill>
                    <a:schemeClr val="accent1">
                      <a:lumMod val="75000"/>
                      <a:alpha val="10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657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4901</TotalTime>
  <Words>2320</Words>
  <Application>Microsoft Office PowerPoint</Application>
  <PresentationFormat>Widescreen</PresentationFormat>
  <Paragraphs>571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Courier New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Meletis Mexis</dc:creator>
  <cp:lastModifiedBy>Meletis Mexis</cp:lastModifiedBy>
  <cp:revision>95</cp:revision>
  <cp:lastPrinted>2026-07-19T20:19:44Z</cp:lastPrinted>
  <dcterms:created xsi:type="dcterms:W3CDTF">2026-07-17T15:08:48Z</dcterms:created>
  <dcterms:modified xsi:type="dcterms:W3CDTF">2026-07-27T07:12:30Z</dcterms:modified>
</cp:coreProperties>
</file>